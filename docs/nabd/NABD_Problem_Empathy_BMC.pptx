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91840"/>
            <a:ext cx="6400800" cy="6400800"/>
          </a:xfrm>
          <a:prstGeom prst="ellipse">
            <a:avLst/>
          </a:prstGeom>
          <a:solidFill>
            <a:srgbClr val="1C7293">
              <a:alpha val="40000"/>
            </a:srgbClr>
          </a:solidFill>
          <a:ln w="1270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-2743200"/>
            <a:ext cx="5943600" cy="5943600"/>
          </a:xfrm>
          <a:prstGeom prst="ellipse">
            <a:avLst/>
          </a:prstGeom>
          <a:solidFill>
            <a:srgbClr val="3FB8AF">
              <a:alpha val="25000"/>
            </a:srgbClr>
          </a:solidFill>
          <a:ln w="12700">
            <a:solidFill>
              <a:srgbClr val="3FB8AF">
                <a:alpha val="25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</a:t>
            </a:r>
            <a:endParaRPr lang="ar-SA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5176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NABD  •  منصة كشف الفاقد المائي وطبقة الثقة لأنظمة التشغيل</a:t>
            </a:r>
            <a:endParaRPr lang="ar-SA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65760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ar-SA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المشكلة المعتمد</a:t>
            </a:r>
            <a:endParaRPr lang="ar-SA" sz="1800" dirty="0"/>
          </a:p>
          <a:p>
            <a:pPr algn="r" indent="0" marL="0">
              <a:spcAft>
                <a:spcPts val="800"/>
              </a:spcAft>
              <a:buNone/>
            </a:pPr>
            <a:r>
              <a:rPr lang="ar-SA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خريطة التعاطف</a:t>
            </a:r>
            <a:endParaRPr lang="ar-SA" sz="1800" dirty="0"/>
          </a:p>
          <a:p>
            <a:pPr algn="r" indent="0" marL="0">
              <a:spcAft>
                <a:spcPts val="800"/>
              </a:spcAft>
              <a:buNone/>
            </a:pPr>
            <a:r>
              <a:rPr lang="ar-SA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العمل التجاري</a:t>
            </a:r>
            <a:endParaRPr lang="ar-SA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521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تحدي التقنيات الرقمية والذكاء الاصطناعي والبنية التحتية الذكية للمياه</a:t>
            </a:r>
            <a:endParaRPr lang="ar-SA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المشكلة المعتمد (1/3)</a:t>
            </a:r>
            <a:endParaRPr lang="ar-SA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يعاني؟ ما المشكلة تحديداً؟ أين ومتى تحدث؟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8138160" y="160020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321040" y="17099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يعاني من المشكلة؟</a:t>
            </a:r>
            <a:endParaRPr lang="ar-SA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321040" y="210312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جهات تشغيل وإدارة شبكات المياه (مثل الشركة الوطنية للمياه) والمدن الصناعية</a:t>
            </a:r>
            <a:endParaRPr lang="ar-SA" sz="12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فرق التشغيل والصيانة وإدارات الأمن السيبراني للأنظمة التشغيلية (OT)</a:t>
            </a:r>
            <a:endParaRPr lang="ar-SA" sz="12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المشتركون (المستفيد النهائي) الذين يتحملون فواتير مرتفعة بسبب تسربات لا يرونها</a:t>
            </a:r>
            <a:endParaRPr lang="ar-SA" sz="12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المجتمع والبيئة: موارد مائية شحيحة وطاقة ضخ مهدرة</a:t>
            </a:r>
            <a:endParaRPr lang="ar-SA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7099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المشكلة تحديداً؟</a:t>
            </a:r>
            <a:endParaRPr lang="ar-SA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ارتفاع الفاقد غير المحاسب (NRW) بسبب تسربات غير مرئية لا تُكتشف إلا بعد ظهورها على السطح أو وصول شكوى</a:t>
            </a:r>
            <a:endParaRPr lang="ar-SA" sz="12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الإنذارات الحالية لا تميز بين تسرب حقيقي، عطل حساس، أو تلاعب في بيانات أنظمة التحكم (PLC/RTU)</a:t>
            </a:r>
            <a:endParaRPr lang="ar-SA" sz="12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زمن الاكتشاف يُقاس بالأيام والأسابيع، وتحديد الموقع يعتمد على البحث الميداني العشوائي</a:t>
            </a:r>
            <a:endParaRPr lang="ar-SA" sz="12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ملاحظة: الوصف أعلاه يصف الظاهرة لا الحل</a:t>
            </a:r>
            <a:endParaRPr lang="ar-SA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31520" y="17099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ومتى تحدث؟</a:t>
            </a:r>
            <a:endParaRPr lang="ar-SA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10312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المرحلة: نقل وتوزيع المياه، وداخل منشآت المشتركين</a:t>
            </a:r>
            <a:endParaRPr lang="ar-SA" sz="12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الموقع: شبكات تتجاوز 134,000 كم على المستوى الوطني، مع تجربة تطبيقية مقترحة في الجبيل</a:t>
            </a:r>
            <a:endParaRPr lang="ar-SA" sz="12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الظروف: على مدار الساعة، وتتفاقم مع تقادم الأصول، تذبذب الضغط ليلاً، وغياب المراقبة اللحظية لكل مقطع</a:t>
            </a:r>
            <a:endParaRPr lang="ar-SA" sz="12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تظهر أيضاً عند مراجعة الفواتير المرتفعة (أكثر من 90% منها سببها تسربات فنية)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NABD  |  حل كشف الفاقد والتسربات في شبكات المياه</a:t>
            </a:r>
            <a:endParaRPr lang="ar-SA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المشكلة المعتمد (2/3): الأسباب الجذرية</a:t>
            </a:r>
            <a:endParaRPr lang="ar-SA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أسلوب "لماذا؟" خمس مرات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54512" y="1723644"/>
            <a:ext cx="502920" cy="502920"/>
          </a:xfrm>
          <a:prstGeom prst="ellipse">
            <a:avLst/>
          </a:prstGeom>
          <a:solidFill>
            <a:srgbClr val="3FB8AF"/>
          </a:solidFill>
          <a:ln w="12700">
            <a:solidFill>
              <a:srgbClr val="3FB8A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54512" y="17236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79792" y="1664208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يرتفع الفاقد المائي؟</a:t>
            </a:r>
            <a:endParaRPr lang="ar-SA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645920"/>
            <a:ext cx="6565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بسبب تسربات فنية مستمرة في الشبكة والمنشآت الداخلية لا تُعالج في وقتها.</a:t>
            </a:r>
            <a:endParaRPr lang="ar-SA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54512" y="2656332"/>
            <a:ext cx="502920" cy="502920"/>
          </a:xfrm>
          <a:prstGeom prst="ellipse">
            <a:avLst/>
          </a:prstGeom>
          <a:solidFill>
            <a:srgbClr val="3FB8AF"/>
          </a:solidFill>
          <a:ln w="12700">
            <a:solidFill>
              <a:srgbClr val="3FB8A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54512" y="26563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79792" y="259689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لا تُكتشف التسربات مبكراً؟</a:t>
            </a:r>
            <a:endParaRPr lang="ar-SA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578608"/>
            <a:ext cx="6565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لأن أغلبها غير مرئي، ولا توجد مراقبة لحظية لكل مقطع من الشبكة؛ الاعتماد على البلاغات والمظهر السطحي.</a:t>
            </a:r>
            <a:endParaRPr lang="ar-SA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19856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54512" y="3589020"/>
            <a:ext cx="502920" cy="502920"/>
          </a:xfrm>
          <a:prstGeom prst="ellipse">
            <a:avLst/>
          </a:prstGeom>
          <a:solidFill>
            <a:srgbClr val="3FB8AF"/>
          </a:solidFill>
          <a:ln w="12700">
            <a:solidFill>
              <a:srgbClr val="3FB8A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54512" y="3589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479792" y="3529584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لا توجد مراقبة لحظية موثوقة؟</a:t>
            </a:r>
            <a:endParaRPr lang="ar-SA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11296"/>
            <a:ext cx="6565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لأن الأنظمة الحالية تجمع البيانات دون تحليل لحظي، وتولد إنذارات كاذبة كثيرة تفقد الفرق الثقة بها.</a:t>
            </a:r>
            <a:endParaRPr lang="ar-SA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352544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954512" y="4521708"/>
            <a:ext cx="502920" cy="502920"/>
          </a:xfrm>
          <a:prstGeom prst="ellipse">
            <a:avLst/>
          </a:prstGeom>
          <a:solidFill>
            <a:srgbClr val="3FB8AF"/>
          </a:solidFill>
          <a:ln w="12700">
            <a:solidFill>
              <a:srgbClr val="3FB8A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54512" y="45217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79792" y="4462272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كثرة الإنذارات الكاذبة؟</a:t>
            </a:r>
            <a:endParaRPr lang="ar-SA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443984"/>
            <a:ext cx="6565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لغياب "طبقة ثقة" تتحقق من مصداقية القراءة وتميز بين التسرب الفعلي، عطل الحساس، أو التلاعب السيبراني.</a:t>
            </a:r>
            <a:endParaRPr lang="ar-SA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285232"/>
            <a:ext cx="11091672" cy="841248"/>
          </a:xfrm>
          <a:prstGeom prst="roundRect">
            <a:avLst>
              <a:gd name="adj" fmla="val 10870"/>
            </a:avLst>
          </a:prstGeom>
          <a:solidFill>
            <a:srgbClr val="EAF4F7"/>
          </a:solidFill>
          <a:ln w="19050">
            <a:solidFill>
              <a:srgbClr val="3FB8A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54512" y="5454396"/>
            <a:ext cx="502920" cy="502920"/>
          </a:xfrm>
          <a:prstGeom prst="ellipse">
            <a:avLst/>
          </a:prstGeom>
          <a:solidFill>
            <a:srgbClr val="3FB8AF"/>
          </a:solidFill>
          <a:ln w="12700">
            <a:solidFill>
              <a:srgbClr val="3FB8A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54512" y="54543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79792" y="539496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تغيب طبقة الثقة؟</a:t>
            </a:r>
            <a:endParaRPr lang="ar-SA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76672"/>
            <a:ext cx="6565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لعدم وجود حل محلي مدمج يجمع التوأم الرقمي والذكاء الاصطناعي وأمن أنظمة التحكم في منصة واحدة تتكامل مع الأنظمة القائمة بوضع قراءة فقط.</a:t>
            </a:r>
            <a:endParaRPr lang="ar-SA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السبب الجذري: غياب طبقة ثقة تحليلية محلية تتكامل مع الأنظمة القائمة دون تعديلها</a:t>
            </a:r>
            <a:endParaRPr lang="ar-SA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NABD  |  حل كشف الفاقد والتسربات في شبكات المياه</a:t>
            </a:r>
            <a:endParaRPr lang="ar-SA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المشكلة المعتمد (3/3): الأثر والصيغة النهائية</a:t>
            </a:r>
            <a:endParaRPr lang="ar-SA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يترتب على بقاء المشكلة دون حل؟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8988552" y="1554480"/>
            <a:ext cx="2651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71432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ملايين م³</a:t>
            </a:r>
            <a:endParaRPr lang="ar-SA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71432" y="2468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هدر سنوي؛ كل 1% خفض في الفاقد يعادل ملايين الأمتار المكعبة</a:t>
            </a:r>
            <a:endParaRPr lang="ar-SA" sz="1100" dirty="0"/>
          </a:p>
        </p:txBody>
      </p:sp>
      <p:sp>
        <p:nvSpPr>
          <p:cNvPr id="7" name="Shape 5"/>
          <p:cNvSpPr/>
          <p:nvPr/>
        </p:nvSpPr>
        <p:spPr>
          <a:xfrm>
            <a:off x="6108192" y="1554480"/>
            <a:ext cx="2651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91072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+90%</a:t>
            </a:r>
            <a:endParaRPr lang="ar-SA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291072" y="2468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الفواتير المرتفعة سببها تسربات فنية، مما يولد شكاوى متكررة</a:t>
            </a:r>
            <a:endParaRPr lang="ar-SA" sz="1100" dirty="0"/>
          </a:p>
        </p:txBody>
      </p:sp>
      <p:sp>
        <p:nvSpPr>
          <p:cNvPr id="10" name="Shape 8"/>
          <p:cNvSpPr/>
          <p:nvPr/>
        </p:nvSpPr>
        <p:spPr>
          <a:xfrm>
            <a:off x="3227832" y="1554480"/>
            <a:ext cx="2651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410712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134,000 كم</a:t>
            </a:r>
            <a:endParaRPr lang="ar-SA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410712" y="2468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طول الشبكة الوطنية المعرضة لتسربات غير مرئية</a:t>
            </a:r>
            <a:endParaRPr lang="ar-SA" sz="1100" dirty="0"/>
          </a:p>
        </p:txBody>
      </p:sp>
      <p:sp>
        <p:nvSpPr>
          <p:cNvPr id="13" name="Shape 11"/>
          <p:cNvSpPr/>
          <p:nvPr/>
        </p:nvSpPr>
        <p:spPr>
          <a:xfrm>
            <a:off x="347472" y="1554480"/>
            <a:ext cx="2651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30352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ar-SA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" y="2468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تعرّض أنظمة التحكم (OT) لمخاطر التلاعب دون تحقق من القراءات</a:t>
            </a:r>
            <a:endParaRPr lang="ar-SA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611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تكاليف إضافية: بحث ميداني عشوائي، صيانة طارئة بدل تنبؤية، طاقة ضخ غير ضرورية، وأثر على سمعة الجهة المشغلة.</a:t>
            </a:r>
            <a:endParaRPr lang="ar-SA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114800"/>
            <a:ext cx="11091672" cy="2103120"/>
          </a:xfrm>
          <a:prstGeom prst="roundRect">
            <a:avLst>
              <a:gd name="adj" fmla="val 5217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519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3FB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صيغة البيان النهائية</a:t>
            </a:r>
            <a:endParaRPr lang="ar-SA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105430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يعاني 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1400" b="1" dirty="0">
                <a:solidFill>
                  <a:srgbClr val="3FB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مشغلو شبكات المياه والمشتركون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من 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1400" b="1" dirty="0">
                <a:solidFill>
                  <a:srgbClr val="3FB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ارتفاع الفاقد غير المحاسب والتسربات غير المرئية التي تُكتشف متأخرة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عند 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1400" b="1" dirty="0">
                <a:solidFill>
                  <a:srgbClr val="3FB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مراحل نقل وتوزيع المياه وداخل المنشآت على مدار الساعة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بسبب 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1400" b="1" dirty="0">
                <a:solidFill>
                  <a:srgbClr val="3FB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 نظام رصد لحظي موثوق يميز بين التسرب الفعلي وأعطال الحساسات والتلاعب السيبراني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، مما يؤدي إلى 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1400" b="1" dirty="0">
                <a:solidFill>
                  <a:srgbClr val="3FB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هدر ملايين الأمتار المكعبة سنوياً، وارتفاع تكاليف التشغيل والصيانة، وفواتير مرتفعة وشكاوى متكررة، وتعريض البنية التحتية الحرجة لمخاطر أمنية.</a:t>
            </a:r>
            <a:endParaRPr lang="ar-SA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NABD  |  حل كشف الفاقد والتسربات في شبكات المياه</a:t>
            </a:r>
            <a:endParaRPr lang="ar-SA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خريطة التعاطف Empathy Map</a:t>
            </a:r>
            <a:endParaRPr lang="ar-SA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الشريحة المستهدفة: مدير تشغيل وصيانة شبكة مياه، ومدير الأمن السيبراني للأنظمة التشغيلية (OT) لدى الجهة المشغلة</a:t>
            </a:r>
            <a:endParaRPr lang="ar-SA" sz="1400" dirty="0"/>
          </a:p>
        </p:txBody>
      </p:sp>
      <p:sp>
        <p:nvSpPr>
          <p:cNvPr id="4" name="Shape 2"/>
          <p:cNvSpPr/>
          <p:nvPr/>
        </p:nvSpPr>
        <p:spPr>
          <a:xfrm>
            <a:off x="6208776" y="1508760"/>
            <a:ext cx="5431536" cy="1508760"/>
          </a:xfrm>
          <a:prstGeom prst="roundRect">
            <a:avLst>
              <a:gd name="adj" fmla="val 7273"/>
            </a:avLst>
          </a:prstGeom>
          <a:solidFill>
            <a:srgbClr val="EAF4F7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391656" y="1618488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يقول؟</a:t>
            </a:r>
            <a:endParaRPr lang="ar-SA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91656" y="2011680"/>
            <a:ext cx="5065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"نغرق في بلاغات التسرب والشكاوى المتكررة"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"كيف نميز بين تسرب حقيقي وعطل في الحساس؟"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"نريد حلاً لا يلمس أنظمتنا التشغيلية ولا يوقفها"</a:t>
            </a:r>
            <a:endParaRPr lang="ar-SA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5431536" cy="1508760"/>
          </a:xfrm>
          <a:prstGeom prst="roundRect">
            <a:avLst>
              <a:gd name="adj" fmla="val 7273"/>
            </a:avLst>
          </a:prstGeom>
          <a:solidFill>
            <a:srgbClr val="EAF4F7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1618488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يفكر؟</a:t>
            </a:r>
            <a:endParaRPr lang="ar-SA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11680"/>
            <a:ext cx="5065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الأولويات: خفض NRW، خفض التكاليف، الامتثال لضوابط الهيئة الوطنية للأمن السيبراني (OTCC)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المخاوف: اختراق أنظمة التحكم، استمرار الهدر، تضرر سمعة الجهة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الطموح: شبكة ذكية آمنة قابلة للتوسع وطنياً</a:t>
            </a:r>
            <a:endParaRPr lang="ar-SA" sz="1100" dirty="0"/>
          </a:p>
        </p:txBody>
      </p:sp>
      <p:sp>
        <p:nvSpPr>
          <p:cNvPr id="10" name="Shape 8"/>
          <p:cNvSpPr/>
          <p:nvPr/>
        </p:nvSpPr>
        <p:spPr>
          <a:xfrm>
            <a:off x="6208776" y="3218688"/>
            <a:ext cx="5431536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91656" y="3328416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يفعل؟</a:t>
            </a:r>
            <a:endParaRPr lang="ar-SA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91656" y="3721608"/>
            <a:ext cx="5065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يرسل فرقاً ميدانية تفاعلياً بعد البلاغ أو ظهور التسرب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يعتمد الصيانة الطارئة بدل التنبؤية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يعالج شكاوى الفواتير يدوياً ويراجع التقارير الشهرية بأثر رجعي</a:t>
            </a:r>
            <a:endParaRPr lang="ar-SA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5431536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3328416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يشعر؟</a:t>
            </a:r>
            <a:endParaRPr lang="ar-SA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21608"/>
            <a:ext cx="5065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إحباط من الإنذارات الكاذبة والإرسال غير المبرر للفرق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قلق دائم من اختراق سيبراني أو انهيار أصل حيوي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ضغط مستمر لتحقيق مؤشرات الأداء وخفض الهدر</a:t>
            </a:r>
            <a:endParaRPr lang="ar-SA" sz="1100" dirty="0"/>
          </a:p>
        </p:txBody>
      </p:sp>
      <p:sp>
        <p:nvSpPr>
          <p:cNvPr id="16" name="Shape 14"/>
          <p:cNvSpPr/>
          <p:nvPr/>
        </p:nvSpPr>
        <p:spPr>
          <a:xfrm>
            <a:off x="6208776" y="4928616"/>
            <a:ext cx="5431536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91656" y="5038344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الآلام Pains</a:t>
            </a:r>
            <a:endParaRPr lang="ar-SA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91656" y="5431536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تكلفة البحث الميداني غير المبرر وصعوبة تحديد موقع التسرب بدقة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خطر التلاعب بقراءات PLC/RTU، والانتقادات بسبب الهدر، وشكاوى المشتركين المستمرة</a:t>
            </a:r>
            <a:endParaRPr lang="ar-SA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928616"/>
            <a:ext cx="5431536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31520" y="5038344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المكاسب Gains</a:t>
            </a:r>
            <a:endParaRPr lang="ar-SA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5431536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ملموس للفاقد، وتوجيه الفرق لموقع محدد، وتحويل الصيانة إلى مجدولة تنبؤية</a:t>
            </a:r>
            <a:endParaRPr lang="ar-SA" sz="11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امتثال كامل، تنبيه مبكر يرضي المشتركين، ومنصة محلية بمحتوى 100%؛ يقيس النجاح بنسبة NRW وزمن الاكتشاف</a:t>
            </a:r>
            <a:endParaRPr lang="ar-SA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NABD  |  حل كشف الفاقد والتسربات في شبكات المياه</a:t>
            </a:r>
            <a:endParaRPr lang="ar-SA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العمل التجاري Business Model Canvas</a:t>
            </a:r>
            <a:endParaRPr lang="ar-SA" sz="3200" dirty="0"/>
          </a:p>
        </p:txBody>
      </p:sp>
      <p:sp>
        <p:nvSpPr>
          <p:cNvPr id="3" name="Shape 1"/>
          <p:cNvSpPr/>
          <p:nvPr/>
        </p:nvSpPr>
        <p:spPr>
          <a:xfrm>
            <a:off x="9509760" y="1097280"/>
            <a:ext cx="2130552" cy="3959352"/>
          </a:xfrm>
          <a:prstGeom prst="roundRect">
            <a:avLst>
              <a:gd name="adj" fmla="val 5150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92640" y="1207008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الشركاء الرئيسيون</a:t>
            </a:r>
            <a:endParaRPr lang="ar-SA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600200"/>
            <a:ext cx="1764792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جهات التشغيل والتنظيم (الشركة الوطنية للمياه، المدن الصناعية)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الهيئة الوطنية للأمن السيبراني (الامتثال لـ OTCC-1)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موردو الحساسات والعدادات الذكية (IoT)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منصة أيجس Aegis السعودية كشريك تقني أساسي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مراكز البحث والتطوير والجامعات المحلية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7269480" y="1097280"/>
            <a:ext cx="2130552" cy="1924812"/>
          </a:xfrm>
          <a:prstGeom prst="roundRect">
            <a:avLst>
              <a:gd name="adj" fmla="val 5701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52360" y="1207008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الأنشطة الرئيسية</a:t>
            </a:r>
            <a:endParaRPr lang="ar-SA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52360" y="1600200"/>
            <a:ext cx="1764792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بناء وصيانة التوأم الرقمي للشبكة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لحظي للتدفق والضغط بالذكاء الاصطناعي لكشف الشذوذ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 طبقة الثقة للتحقق من القراءات وأجهزة PLC/RTU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تكامل آمن بوضع قراءة فقط (OPC-UA / Historian)</a:t>
            </a:r>
            <a:endParaRPr lang="ar-SA" sz="900" dirty="0"/>
          </a:p>
        </p:txBody>
      </p:sp>
      <p:sp>
        <p:nvSpPr>
          <p:cNvPr id="9" name="Shape 7"/>
          <p:cNvSpPr/>
          <p:nvPr/>
        </p:nvSpPr>
        <p:spPr>
          <a:xfrm>
            <a:off x="7269480" y="3131820"/>
            <a:ext cx="2130552" cy="1924812"/>
          </a:xfrm>
          <a:prstGeom prst="roundRect">
            <a:avLst>
              <a:gd name="adj" fmla="val 5701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452360" y="3241548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الموارد الرئيسية</a:t>
            </a:r>
            <a:endParaRPr lang="ar-SA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3634740"/>
            <a:ext cx="1764792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منصة نبض المبنية على منصة Aegis العاملة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خوارزميات كشف التسرب والتنبؤ بأعطال الأصول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فريق OT وأمن سيبراني وعلوم بيانات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الشبكة التاريخية واللحظية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5029200" y="1097280"/>
            <a:ext cx="2130552" cy="3959352"/>
          </a:xfrm>
          <a:prstGeom prst="roundRect">
            <a:avLst>
              <a:gd name="adj" fmla="val 5150"/>
            </a:avLst>
          </a:prstGeom>
          <a:solidFill>
            <a:srgbClr val="EAF4F7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12080" y="1207008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0B3C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القيمة المقترحة</a:t>
            </a:r>
            <a:endParaRPr lang="ar-SA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1600200"/>
            <a:ext cx="1764792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كشف التسرب خلال دقائق بدل أيام، مع تحديد الموقع المرجّح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طبقة ثقة تميز التسرب الفعلي عن عطل الحساس أو التلاعب السيبراني قبل أي إجراء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حل محلي 100% (On-prem) دون تعديل على الأنظمة القائمة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NRW وتكاليف الصيانة وطاقة الضخ، وحماية البنية التحتية الحرجة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نتفوق: الجمع بين التوأم الرقمي وأمن OT في منصة واحدة محلية</a:t>
            </a:r>
            <a:endParaRPr lang="ar-SA" sz="900" dirty="0"/>
          </a:p>
        </p:txBody>
      </p:sp>
      <p:sp>
        <p:nvSpPr>
          <p:cNvPr id="15" name="Shape 13"/>
          <p:cNvSpPr/>
          <p:nvPr/>
        </p:nvSpPr>
        <p:spPr>
          <a:xfrm>
            <a:off x="2788920" y="1097280"/>
            <a:ext cx="2130552" cy="1924812"/>
          </a:xfrm>
          <a:prstGeom prst="roundRect">
            <a:avLst>
              <a:gd name="adj" fmla="val 5701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2971800" y="1207008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العلاقات مع العملاء</a:t>
            </a:r>
            <a:endParaRPr lang="ar-SA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971800" y="1600200"/>
            <a:ext cx="1764792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حسابات مدارة ودعم فني متخصص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تقارير دورية: NRW، حالة الأصول، الحوادث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شراكة في التحول الرقمي وأمن OT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تنبيهات مباشرة للمشتركين (B2B2C)</a:t>
            </a:r>
            <a:endParaRPr lang="ar-SA" sz="900" dirty="0"/>
          </a:p>
        </p:txBody>
      </p:sp>
      <p:sp>
        <p:nvSpPr>
          <p:cNvPr id="18" name="Shape 16"/>
          <p:cNvSpPr/>
          <p:nvPr/>
        </p:nvSpPr>
        <p:spPr>
          <a:xfrm>
            <a:off x="2788920" y="3131820"/>
            <a:ext cx="2130552" cy="1924812"/>
          </a:xfrm>
          <a:prstGeom prst="roundRect">
            <a:avLst>
              <a:gd name="adj" fmla="val 5701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971800" y="3241548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القنوات</a:t>
            </a:r>
            <a:endParaRPr lang="ar-SA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971800" y="3634740"/>
            <a:ext cx="1764792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برامج الابتكار والتحديات الوطنية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المناقصات المباشرة مع جهات التشغيل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تجريبي قابل للتوسع (الجبيل)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شركاء التكامل والموردون</a:t>
            </a:r>
            <a:endParaRPr lang="ar-SA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130552" cy="3959352"/>
          </a:xfrm>
          <a:prstGeom prst="roundRect">
            <a:avLst>
              <a:gd name="adj" fmla="val 5150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1207008"/>
            <a:ext cx="1764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شرائح العملاء</a:t>
            </a:r>
            <a:endParaRPr lang="ar-SA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600200"/>
            <a:ext cx="1764792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الشريحة الأولى: جهات تشغيل شبكات المياه في المدن الصناعية والكبرى (الجبيل أولاً)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إدارات الأمن السيبراني والأنظمة التشغيلية في المرافق الحيوية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لاحقاً: شركات التوزيع الإقليمية والمشغلون الخاصون</a:t>
            </a:r>
            <a:endParaRPr lang="ar-SA" sz="900" dirty="0"/>
          </a:p>
        </p:txBody>
      </p:sp>
      <p:sp>
        <p:nvSpPr>
          <p:cNvPr id="24" name="Shape 22"/>
          <p:cNvSpPr/>
          <p:nvPr/>
        </p:nvSpPr>
        <p:spPr>
          <a:xfrm>
            <a:off x="6149340" y="5166360"/>
            <a:ext cx="54909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2220" y="5276088"/>
            <a:ext cx="51252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هيكل التكاليف</a:t>
            </a:r>
            <a:endParaRPr lang="ar-SA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32220" y="5669280"/>
            <a:ext cx="51252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ثابتة: تطوير البرمجيات والخوارزميات، رواتب الفريق المتخصص، تراخيص وشهادات الامتثال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متغيرة: بنية On-prem لكل عميل، تكامل الحساسات، التدريب والدعم الميداني</a:t>
            </a:r>
            <a:endParaRPr lang="ar-SA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5166360"/>
            <a:ext cx="54909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5E3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31520" y="5276088"/>
            <a:ext cx="51252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مصادر الإيرادات</a:t>
            </a:r>
            <a:endParaRPr lang="ar-SA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669280"/>
            <a:ext cx="51252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ترخيص البرمجيات + عقد خدمة وصيانة سنوي (Managed Service)</a:t>
            </a:r>
            <a:endParaRPr lang="ar-SA" sz="900" dirty="0"/>
          </a:p>
          <a:p>
            <a:pPr algn="r" marL="152400" indent="-152400">
              <a:spcAft>
                <a:spcPts val="400"/>
              </a:spcAft>
              <a:buSzPct val="100000"/>
              <a:buChar char="•"/>
            </a:pPr>
            <a:r>
              <a:rPr lang="ar-SA" altLang="en-US" sz="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رسوم التكامل الأولي والتدريب، ونموذج مرتبط بالأداء: نسبة من قيمة التوفير في الفاقد أو طاقة الضخ</a:t>
            </a:r>
            <a:endParaRPr lang="ar-SA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نبض NABD  |  حل كشف الفاقد والتسربات في شبكات المياه</a:t>
            </a:r>
            <a:endParaRPr lang="ar-SA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9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2026-09-14T20:18:13Z</dcterms:created>
  <dcterms:modified xsi:type="dcterms:W3CDTF">2026-09-14T20:18:13Z</dcterms:modified>
</cp:coreProperties>
</file>