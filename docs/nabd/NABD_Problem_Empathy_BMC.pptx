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291840"/>
            <a:ext cx="6400800" cy="6400800"/>
          </a:xfrm>
          <a:prstGeom prst="ellipse">
            <a:avLst/>
          </a:prstGeom>
          <a:solidFill>
            <a:srgbClr val="1C7293">
              <a:alpha val="4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-2743200"/>
            <a:ext cx="5943600" cy="5943600"/>
          </a:xfrm>
          <a:prstGeom prst="ellipse">
            <a:avLst/>
          </a:prstGeom>
          <a:solidFill>
            <a:srgbClr val="3FB8AF">
              <a:alpha val="25000"/>
            </a:srgbClr>
          </a:solidFill>
          <a:ln w="12700">
            <a:solidFill>
              <a:srgbClr val="3FB8AF">
                <a:alpha val="25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80160"/>
            <a:ext cx="107259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نبض</a:t>
            </a:r>
            <a:endParaRPr lang="ar-SA" sz="6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56032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NABD  •  طبقة التحقق: من إنذار إلى قرار مسنود بدليل ودرجة ثقة</a:t>
            </a:r>
            <a:endParaRPr lang="ar-SA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56616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800"/>
              </a:spcAft>
              <a:buNone/>
            </a:pPr>
            <a:r>
              <a:rPr lang="ar-SA" alt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بيان المشكلة المعتمد</a:t>
            </a:r>
            <a:endParaRPr lang="ar-SA" sz="1800" dirty="0"/>
          </a:p>
          <a:p>
            <a:pPr algn="r" indent="0" marL="0">
              <a:spcAft>
                <a:spcPts val="800"/>
              </a:spcAft>
              <a:buNone/>
            </a:pPr>
            <a:r>
              <a:rPr lang="ar-SA" alt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خريطة التعاطف</a:t>
            </a:r>
            <a:endParaRPr lang="ar-SA" sz="1800" dirty="0"/>
          </a:p>
          <a:p>
            <a:pPr algn="r" indent="0" marL="0">
              <a:spcAft>
                <a:spcPts val="800"/>
              </a:spcAft>
              <a:buNone/>
            </a:pPr>
            <a:r>
              <a:rPr lang="ar-SA" alt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نموذج العمل التجاري</a:t>
            </a:r>
            <a:endParaRPr lang="ar-SA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53212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3FB8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النسخة الثانية — بعد الجلسة الاستشارية مع م. عماد (شركة المياه الوطنية)</a:t>
            </a:r>
            <a:endParaRPr lang="ar-SA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594360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تحدي التقنيات الرقمية والذكاء الاصطناعي والبنية التحتية الذكية للمياه</a:t>
            </a:r>
            <a:endParaRPr lang="ar-SA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200" b="1" dirty="0">
                <a:solidFill>
                  <a:srgbClr val="0B3C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أين تقع نبض؟ لا نكرر الموجود</a:t>
            </a:r>
            <a:endParaRPr lang="ar-SA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المشغّل يملك منذ سنوات أنظمة كشف ومتابعة؛ الفجوة ليست في القياس بل في التحقق</a:t>
            </a:r>
            <a:endParaRPr lang="ar-SA" sz="1400" dirty="0"/>
          </a:p>
        </p:txBody>
      </p:sp>
      <p:sp>
        <p:nvSpPr>
          <p:cNvPr id="4" name="Shape 2"/>
          <p:cNvSpPr/>
          <p:nvPr/>
        </p:nvSpPr>
        <p:spPr>
          <a:xfrm>
            <a:off x="6231636" y="1600200"/>
            <a:ext cx="5408676" cy="3246120"/>
          </a:xfrm>
          <a:prstGeom prst="roundRect">
            <a:avLst>
              <a:gd name="adj" fmla="val 3380"/>
            </a:avLst>
          </a:prstGeom>
          <a:solidFill>
            <a:srgbClr val="F4F7F9"/>
          </a:solidFill>
          <a:ln w="9525">
            <a:solidFill>
              <a:srgbClr val="D5E3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14516" y="1709928"/>
            <a:ext cx="50429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موجود أصلاً لدى المشغّل — خارج نطاقنا</a:t>
            </a:r>
            <a:endParaRPr lang="ar-SA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14516" y="2103120"/>
            <a:ext cx="5042916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152400" indent="-152400">
              <a:spcAft>
                <a:spcPts val="400"/>
              </a:spcAft>
              <a:buSzPct val="100000"/>
              <a:buChar char="•"/>
            </a:pPr>
            <a:r>
              <a:rPr lang="ar-SA" alt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أنظمة كشف التسرب (Leak Detection) وأجهزة وحساسات موزعة في الشبكة</a:t>
            </a:r>
            <a:endParaRPr lang="ar-SA" sz="1200" dirty="0"/>
          </a:p>
          <a:p>
            <a:pPr algn="r" marL="152400" indent="-152400">
              <a:spcAft>
                <a:spcPts val="400"/>
              </a:spcAft>
              <a:buSzPct val="100000"/>
              <a:buChar char="•"/>
            </a:pPr>
            <a:r>
              <a:rPr lang="ar-SA" alt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منصات متابعة الفاقد غير المحاسب (NRW) ونسب الفقد اللحظية على مستوى المناطق</a:t>
            </a:r>
            <a:endParaRPr lang="ar-SA" sz="1200" dirty="0"/>
          </a:p>
          <a:p>
            <a:pPr algn="r" marL="152400" indent="-152400">
              <a:spcAft>
                <a:spcPts val="400"/>
              </a:spcAft>
              <a:buSzPct val="100000"/>
              <a:buChar char="•"/>
            </a:pPr>
            <a:r>
              <a:rPr lang="ar-SA" alt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التوأم الرقمي والخرائط الرقمية (Digital Twin / Digital Mapping)</a:t>
            </a:r>
            <a:endParaRPr lang="ar-SA" sz="1200" dirty="0"/>
          </a:p>
          <a:p>
            <a:pPr algn="r" marL="152400" indent="-152400">
              <a:spcAft>
                <a:spcPts val="400"/>
              </a:spcAft>
              <a:buSzPct val="100000"/>
              <a:buChar char="•"/>
            </a:pPr>
            <a:r>
              <a:rPr lang="ar-SA" alt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أوامر العمل للتسريبات والانكسارات، وبيانات تصل إلى مستوى محابس العزل</a:t>
            </a:r>
            <a:endParaRPr lang="ar-SA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5408676" cy="3246120"/>
          </a:xfrm>
          <a:prstGeom prst="roundRect">
            <a:avLst>
              <a:gd name="adj" fmla="val 3380"/>
            </a:avLst>
          </a:prstGeom>
          <a:solidFill>
            <a:srgbClr val="EAF4F7"/>
          </a:solidFill>
          <a:ln w="9525">
            <a:solidFill>
              <a:srgbClr val="D5E3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31520" y="1709928"/>
            <a:ext cx="50429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0B3C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الفجوة التي تملؤها نبض</a:t>
            </a:r>
            <a:endParaRPr lang="ar-SA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103120"/>
            <a:ext cx="5042916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152400" indent="-152400">
              <a:spcAft>
                <a:spcPts val="400"/>
              </a:spcAft>
              <a:buSzPct val="100000"/>
              <a:buChar char="•"/>
            </a:pPr>
            <a:r>
              <a:rPr lang="ar-SA" alt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حدث مرشح يصل اليوم كإنذار أو انحراف — بلا درجة ثقة ولا دليل يفسر سببه</a:t>
            </a:r>
            <a:endParaRPr lang="ar-SA" sz="1200" dirty="0"/>
          </a:p>
          <a:p>
            <a:pPr algn="r" marL="152400" indent="-152400">
              <a:spcAft>
                <a:spcPts val="400"/>
              </a:spcAft>
              <a:buSzPct val="100000"/>
              <a:buChar char="•"/>
            </a:pPr>
            <a:r>
              <a:rPr lang="ar-SA" alt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تمييز منهجي بين: انكسار مؤكد / عطل في الحساس / تغير طبيعي في الطلب</a:t>
            </a:r>
            <a:endParaRPr lang="ar-SA" sz="1200" dirty="0"/>
          </a:p>
          <a:p>
            <a:pPr algn="r" marL="152400" indent="-152400">
              <a:spcAft>
                <a:spcPts val="400"/>
              </a:spcAft>
              <a:buSzPct val="100000"/>
              <a:buChar char="•"/>
            </a:pPr>
            <a:r>
              <a:rPr lang="ar-SA" alt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قراءة للتوقيع الهيدروليكي المحلي حول موقع الحدث لدعم أو نفي الفرضية</a:t>
            </a:r>
            <a:endParaRPr lang="ar-SA" sz="1200" dirty="0"/>
          </a:p>
          <a:p>
            <a:pPr algn="r" marL="152400" indent="-152400">
              <a:spcAft>
                <a:spcPts val="400"/>
              </a:spcAft>
              <a:buSzPct val="100000"/>
              <a:buChar char="•"/>
            </a:pPr>
            <a:r>
              <a:rPr lang="ar-SA" alt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المسار المقترح: دليل ← درجة ثقة ← تحقق ← قرار (Evidence → Confidence → Verification → Decision)</a:t>
            </a:r>
            <a:endParaRPr lang="ar-SA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5029200"/>
            <a:ext cx="11091672" cy="1143000"/>
          </a:xfrm>
          <a:prstGeom prst="roundRect">
            <a:avLst>
              <a:gd name="adj" fmla="val 9600"/>
            </a:avLst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5138928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3FB8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حدود النطاق الفني (مصححة بعد الجلسة الاستشارية)</a:t>
            </a:r>
            <a:endParaRPr lang="ar-SA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5468112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ar-SA" alt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أجهزة كشف التسرب والضغط للقراءة فقط (Read-only) باتصال أحادي الاتجاه ولا تستقبل أوامر — فلا يقوم الحل على فرضية التلاعب المباشر بالحساس.</a:t>
            </a:r>
            <a:endParaRPr lang="ar-SA" sz="1150" dirty="0"/>
          </a:p>
          <a:p>
            <a:pPr algn="r" indent="0" marL="0">
              <a:buNone/>
            </a:pPr>
            <a:r>
              <a:rPr lang="ar-SA" alt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القياسات وقراءات الحساسات على IT، والتحكم على OT — ونبض تعمل على بيانات القياس فقط، بلا أي تحكم أو أوامر إلى المعدات.</a:t>
            </a:r>
            <a:endParaRPr lang="ar-SA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90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نبض NABD  |  طبقة التحقق من أحداث التسرب في شبكات المياه</a:t>
            </a:r>
            <a:endParaRPr lang="ar-SA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90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SA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200" b="1" dirty="0">
                <a:solidFill>
                  <a:srgbClr val="0B3C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بيان المشكلة المعتمد (1/3)</a:t>
            </a:r>
            <a:endParaRPr lang="ar-SA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يعاني؟ ما المشكلة تحديداً؟ أين ومتى تحدث؟</a:t>
            </a:r>
            <a:endParaRPr lang="ar-SA" sz="1400" dirty="0"/>
          </a:p>
        </p:txBody>
      </p:sp>
      <p:sp>
        <p:nvSpPr>
          <p:cNvPr id="4" name="Shape 2"/>
          <p:cNvSpPr/>
          <p:nvPr/>
        </p:nvSpPr>
        <p:spPr>
          <a:xfrm>
            <a:off x="8138160" y="1600200"/>
            <a:ext cx="3520440" cy="44805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9525">
            <a:solidFill>
              <a:srgbClr val="D5E3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321040" y="170992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يعاني من المشكلة؟</a:t>
            </a:r>
            <a:endParaRPr lang="ar-SA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321040" y="2103120"/>
            <a:ext cx="31546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152400" indent="-152400">
              <a:spcAft>
                <a:spcPts val="400"/>
              </a:spcAft>
              <a:buSzPct val="100000"/>
              <a:buChar char="•"/>
            </a:pPr>
            <a:r>
              <a:rPr lang="ar-SA" alt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فرق تشغيل وصيانة شبكات التوزيع التي تتلقى الأحداث وتقرر إرسال الفرق الميدانية</a:t>
            </a:r>
            <a:endParaRPr lang="ar-SA" sz="1200" dirty="0"/>
          </a:p>
          <a:p>
            <a:pPr algn="r" marL="152400" indent="-152400">
              <a:spcAft>
                <a:spcPts val="400"/>
              </a:spcAft>
              <a:buSzPct val="100000"/>
              <a:buChar char="•"/>
            </a:pPr>
            <a:r>
              <a:rPr lang="ar-SA" alt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غرف التحكم ومحللو الفاقد الذين يبنون مؤشرات NRW على قراءات قد تكون غير سليمة</a:t>
            </a:r>
            <a:endParaRPr lang="ar-SA" sz="1200" dirty="0"/>
          </a:p>
          <a:p>
            <a:pPr algn="r" marL="152400" indent="-152400">
              <a:spcAft>
                <a:spcPts val="400"/>
              </a:spcAft>
              <a:buSzPct val="100000"/>
              <a:buChar char="•"/>
            </a:pPr>
            <a:r>
              <a:rPr lang="ar-SA" alt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المشتركون: تأخر معالجة الانكسار الحقيقي يعني انقطاعاً أو فاتورة مرتفعة</a:t>
            </a:r>
            <a:endParaRPr lang="ar-SA" sz="1200" dirty="0"/>
          </a:p>
          <a:p>
            <a:pPr algn="r" marL="152400" indent="-152400">
              <a:spcAft>
                <a:spcPts val="400"/>
              </a:spcAft>
              <a:buSzPct val="100000"/>
              <a:buChar char="•"/>
            </a:pPr>
            <a:r>
              <a:rPr lang="ar-SA" alt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الجهة المشغلة: كلفة زيارات ميدانية لا ينتج عنها تسرب مؤكد</a:t>
            </a:r>
            <a:endParaRPr lang="ar-SA" sz="1200" dirty="0"/>
          </a:p>
        </p:txBody>
      </p:sp>
      <p:sp>
        <p:nvSpPr>
          <p:cNvPr id="7" name="Shape 5"/>
          <p:cNvSpPr/>
          <p:nvPr/>
        </p:nvSpPr>
        <p:spPr>
          <a:xfrm>
            <a:off x="4343400" y="1600200"/>
            <a:ext cx="3520440" cy="44805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9525">
            <a:solidFill>
              <a:srgbClr val="D5E3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26280" y="170992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المشكلة تحديداً؟</a:t>
            </a:r>
            <a:endParaRPr lang="ar-SA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2103120"/>
            <a:ext cx="31546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152400" indent="-152400">
              <a:spcAft>
                <a:spcPts val="400"/>
              </a:spcAft>
              <a:buSzPct val="100000"/>
              <a:buChar char="•"/>
            </a:pPr>
            <a:r>
              <a:rPr lang="ar-SA" alt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(وصف الظاهرة لا الحل) الحدث المرشح يصل إلى متخذ القرار دون درجة ثقة ودون دليل يفسر سببه</a:t>
            </a:r>
            <a:endParaRPr lang="ar-SA" sz="1200" dirty="0"/>
          </a:p>
          <a:p>
            <a:pPr algn="r" marL="152400" indent="-152400">
              <a:spcAft>
                <a:spcPts val="400"/>
              </a:spcAft>
              <a:buSzPct val="100000"/>
              <a:buChar char="•"/>
            </a:pPr>
            <a:r>
              <a:rPr lang="ar-SA" alt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يوجد تمييز منهجي بين انكسار مؤكد، وعطل في الحساس، وتغير طبيعي في الطلب</a:t>
            </a:r>
            <a:endParaRPr lang="ar-SA" sz="1200" dirty="0"/>
          </a:p>
          <a:p>
            <a:pPr algn="r" marL="152400" indent="-152400">
              <a:spcAft>
                <a:spcPts val="400"/>
              </a:spcAft>
              <a:buSzPct val="100000"/>
              <a:buChar char="•"/>
            </a:pPr>
            <a:r>
              <a:rPr lang="ar-SA" alt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الحكم يعتمد على خبرة الشخص المناوب، فتتفاوت القرارات على الحدث نفسه</a:t>
            </a:r>
            <a:endParaRPr lang="ar-SA" sz="1200" dirty="0"/>
          </a:p>
          <a:p>
            <a:pPr algn="r" marL="152400" indent="-152400">
              <a:spcAft>
                <a:spcPts val="400"/>
              </a:spcAft>
              <a:buSzPct val="100000"/>
              <a:buChar char="•"/>
            </a:pPr>
            <a:r>
              <a:rPr lang="ar-SA" alt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النتيجة: جهد ميداني يُصرف على أحداث غير مؤكدة، وأحداث حقيقية تنتظر في الطابور</a:t>
            </a:r>
            <a:endParaRPr lang="ar-SA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600200"/>
            <a:ext cx="3520440" cy="44805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9525">
            <a:solidFill>
              <a:srgbClr val="D5E3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31520" y="170992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أين ومتى تحدث؟</a:t>
            </a:r>
            <a:endParaRPr lang="ar-SA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2103120"/>
            <a:ext cx="31546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152400" indent="-152400">
              <a:spcAft>
                <a:spcPts val="400"/>
              </a:spcAft>
              <a:buSzPct val="100000"/>
              <a:buChar char="•"/>
            </a:pPr>
            <a:r>
              <a:rPr lang="ar-SA" alt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المرحلة: اللحظة الفاصلة بين رصد الحدث وإصدار أمر العمل — لا في القياس ولا في التنفيذ</a:t>
            </a:r>
            <a:endParaRPr lang="ar-SA" sz="1200" dirty="0"/>
          </a:p>
          <a:p>
            <a:pPr algn="r" marL="152400" indent="-152400">
              <a:spcAft>
                <a:spcPts val="400"/>
              </a:spcAft>
              <a:buSzPct val="100000"/>
              <a:buChar char="•"/>
            </a:pPr>
            <a:r>
              <a:rPr lang="ar-SA" alt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الموقع: شبكات التوزيع ومحيط نقطة الانكسار؛ الأثر محلي عند الموقع وما حوله لا على مستوى المنطقة أو المضخة</a:t>
            </a:r>
            <a:endParaRPr lang="ar-SA" sz="1200" dirty="0"/>
          </a:p>
          <a:p>
            <a:pPr algn="r" marL="152400" indent="-152400">
              <a:spcAft>
                <a:spcPts val="400"/>
              </a:spcAft>
              <a:buSzPct val="100000"/>
              <a:buChar char="•"/>
            </a:pPr>
            <a:r>
              <a:rPr lang="ar-SA" alt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الظروف: على مدار الساعة، وتشتد وقت ذروة الطلب حين تتشابه إشارة الانكسار مع التغير الطبيعي</a:t>
            </a:r>
            <a:endParaRPr lang="ar-SA" sz="1200" dirty="0"/>
          </a:p>
          <a:p>
            <a:pPr algn="r" marL="152400" indent="-152400">
              <a:spcAft>
                <a:spcPts val="400"/>
              </a:spcAft>
              <a:buSzPct val="100000"/>
              <a:buChar char="•"/>
            </a:pPr>
            <a:r>
              <a:rPr lang="ar-SA" alt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تشتد كذلك عند تقادم الحساس أو انحراف معايرته</a:t>
            </a:r>
            <a:endParaRPr lang="ar-SA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90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نبض NABD  |  طبقة التحقق من أحداث التسرب في شبكات المياه</a:t>
            </a:r>
            <a:endParaRPr lang="ar-SA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90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SA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200" b="1" dirty="0">
                <a:solidFill>
                  <a:srgbClr val="0B3C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بيان المشكلة المعتمد (2/3): الأسباب الجذرية</a:t>
            </a:r>
            <a:endParaRPr lang="ar-SA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أسلوب "لماذا؟" خمس مرات</a:t>
            </a:r>
            <a:endParaRPr lang="ar-SA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D5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54512" y="1723644"/>
            <a:ext cx="502920" cy="502920"/>
          </a:xfrm>
          <a:prstGeom prst="ellipse">
            <a:avLst/>
          </a:prstGeom>
          <a:solidFill>
            <a:srgbClr val="3FB8AF"/>
          </a:solidFill>
          <a:ln w="12700">
            <a:solidFill>
              <a:srgbClr val="3FB8A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54512" y="17236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0B3C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SA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022592" y="164592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200" b="1" dirty="0">
                <a:solidFill>
                  <a:srgbClr val="0B3C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يستمر الفاقد الفني رغم وجود أنظمة الكشف ومتابعة NRW؟</a:t>
            </a:r>
            <a:endParaRPr lang="ar-SA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645920"/>
            <a:ext cx="6108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1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لأن جزءاً من الأحداث المرشحة يتأخر التحقق منه فتتأخر المعالجة، وجزءاً آخر يُصرف عليه جهد ميداني دون تسرب فعلي.</a:t>
            </a:r>
            <a:endParaRPr lang="ar-SA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487168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D5E3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54512" y="2656332"/>
            <a:ext cx="502920" cy="502920"/>
          </a:xfrm>
          <a:prstGeom prst="ellipse">
            <a:avLst/>
          </a:prstGeom>
          <a:solidFill>
            <a:srgbClr val="3FB8AF"/>
          </a:solidFill>
          <a:ln w="12700">
            <a:solidFill>
              <a:srgbClr val="3FB8A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954512" y="26563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0B3C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SA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022592" y="2578608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200" b="1" dirty="0">
                <a:solidFill>
                  <a:srgbClr val="0B3C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يتأخر التحقق أو يُصرف الجهد بلا نتيجة؟</a:t>
            </a:r>
            <a:endParaRPr lang="ar-SA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2578608"/>
            <a:ext cx="6108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1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لأن الحدث يصل إلى الفريق كإنذار أو انحراف رقمي، دون درجة ثقة ودون دليل يفسر سببه.</a:t>
            </a:r>
            <a:endParaRPr lang="ar-SA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419856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D5E3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54512" y="3589020"/>
            <a:ext cx="502920" cy="502920"/>
          </a:xfrm>
          <a:prstGeom prst="ellipse">
            <a:avLst/>
          </a:prstGeom>
          <a:solidFill>
            <a:srgbClr val="3FB8AF"/>
          </a:solidFill>
          <a:ln w="12700">
            <a:solidFill>
              <a:srgbClr val="3FB8A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954512" y="35890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0B3C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SA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022592" y="3511296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200" b="1" dirty="0">
                <a:solidFill>
                  <a:srgbClr val="0B3C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لا توجد درجة ثقة مرفقة بالحدث؟</a:t>
            </a:r>
            <a:endParaRPr lang="ar-SA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511296"/>
            <a:ext cx="6108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1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لأن الأنظمة القائمة تقيس وتعرض (تدفق، ضغط، نسب فقد) لكنها لا تفسّر: لا تربط الحدث بحالة الحساس نفسه ولا بسلوك جيرانه.</a:t>
            </a:r>
            <a:endParaRPr lang="ar-SA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352544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D5E3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954512" y="4521708"/>
            <a:ext cx="502920" cy="502920"/>
          </a:xfrm>
          <a:prstGeom prst="ellipse">
            <a:avLst/>
          </a:prstGeom>
          <a:solidFill>
            <a:srgbClr val="3FB8AF"/>
          </a:solidFill>
          <a:ln w="12700">
            <a:solidFill>
              <a:srgbClr val="3FB8A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954512" y="45217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0B3C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ar-SA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022592" y="4443984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200" b="1" dirty="0">
                <a:solidFill>
                  <a:srgbClr val="0B3C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لا يتم هذا الربط؟</a:t>
            </a:r>
            <a:endParaRPr lang="ar-SA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4443984"/>
            <a:ext cx="6108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1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لأنه يتطلب نموذجاً لانتشار أثر الانكسار محلياً حول موقعه عبر أقرب الحساسات، ونموذجاً لصحة الحساس — وكلاهما يُبنى على سلوك الشبكة الفعلي.</a:t>
            </a:r>
            <a:endParaRPr lang="ar-SA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285232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EAF4F7"/>
          </a:solidFill>
          <a:ln w="19050">
            <a:solidFill>
              <a:srgbClr val="3FB8A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954512" y="5454396"/>
            <a:ext cx="502920" cy="502920"/>
          </a:xfrm>
          <a:prstGeom prst="ellipse">
            <a:avLst/>
          </a:prstGeom>
          <a:solidFill>
            <a:srgbClr val="3FB8AF"/>
          </a:solidFill>
          <a:ln w="12700">
            <a:solidFill>
              <a:srgbClr val="3FB8A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954512" y="54543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0B3C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ar-SA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5376672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200" b="1" dirty="0">
                <a:solidFill>
                  <a:srgbClr val="0B3C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لم يُبنَ هذا النموذج؟</a:t>
            </a:r>
            <a:endParaRPr lang="ar-SA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31520" y="5376672"/>
            <a:ext cx="6108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1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لغياب طبقة تحليلية مستقلة تُعاير على البيانات التاريخية الحقيقية للمشغّل، وتتكامل معه بوضع قراءة فقط دون تكرار أنظمته.</a:t>
            </a:r>
            <a:endParaRPr lang="ar-SA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2636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2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السبب الجذري: غياب طبقة تحقق تحوّل الحدث إلى قرار مسنود بدليل ودرجة ثقة، مُعايَرة على بيانات الشبكة الحقيقية</a:t>
            </a:r>
            <a:endParaRPr lang="ar-SA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90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نبض NABD  |  طبقة التحقق من أحداث التسرب في شبكات المياه</a:t>
            </a:r>
            <a:endParaRPr lang="ar-SA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90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ar-SA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200" b="1" dirty="0">
                <a:solidFill>
                  <a:srgbClr val="0B3C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بيان المشكلة المعتمد (3/3): الأثر والصيغة النهائية</a:t>
            </a:r>
            <a:endParaRPr lang="ar-SA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ماذا يترتب على بقاء المشكلة دون حل؟</a:t>
            </a:r>
            <a:endParaRPr lang="ar-SA" sz="1400" dirty="0"/>
          </a:p>
        </p:txBody>
      </p:sp>
      <p:sp>
        <p:nvSpPr>
          <p:cNvPr id="4" name="Shape 2"/>
          <p:cNvSpPr/>
          <p:nvPr/>
        </p:nvSpPr>
        <p:spPr>
          <a:xfrm>
            <a:off x="8988552" y="1554480"/>
            <a:ext cx="26517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5E3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71432" y="17373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9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زيارات بلا نتيجة</a:t>
            </a:r>
            <a:endParaRPr lang="ar-SA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9171432" y="242316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حدث غير مؤكد يُرسل له فريق = ساعات عمل ومركبات وكلفة تشغيل بلا مقابل</a:t>
            </a:r>
            <a:endParaRPr lang="ar-SA" sz="1100" dirty="0"/>
          </a:p>
        </p:txBody>
      </p:sp>
      <p:sp>
        <p:nvSpPr>
          <p:cNvPr id="7" name="Shape 5"/>
          <p:cNvSpPr/>
          <p:nvPr/>
        </p:nvSpPr>
        <p:spPr>
          <a:xfrm>
            <a:off x="6108192" y="1554480"/>
            <a:ext cx="26517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5E3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291072" y="17373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9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زمن حتى القرار</a:t>
            </a:r>
            <a:endParaRPr lang="ar-SA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6291072" y="242316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الانكسار الحقيقي ينتظر في طابور مزدحم بأحداث لم يُتحقق منها</a:t>
            </a:r>
            <a:endParaRPr lang="ar-SA" sz="1100" dirty="0"/>
          </a:p>
        </p:txBody>
      </p:sp>
      <p:sp>
        <p:nvSpPr>
          <p:cNvPr id="10" name="Shape 8"/>
          <p:cNvSpPr/>
          <p:nvPr/>
        </p:nvSpPr>
        <p:spPr>
          <a:xfrm>
            <a:off x="3227832" y="1554480"/>
            <a:ext cx="26517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5E3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410712" y="17373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9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قراءات غير سليمة</a:t>
            </a:r>
            <a:endParaRPr lang="ar-SA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3410712" y="242316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عطل الحساس غير المكتشف يلوّث مؤشرات الفاقد ويقود إلى قرارات مبنية على رقم خاطئ</a:t>
            </a:r>
            <a:endParaRPr lang="ar-SA" sz="1100" dirty="0"/>
          </a:p>
        </p:txBody>
      </p:sp>
      <p:sp>
        <p:nvSpPr>
          <p:cNvPr id="13" name="Shape 11"/>
          <p:cNvSpPr/>
          <p:nvPr/>
        </p:nvSpPr>
        <p:spPr>
          <a:xfrm>
            <a:off x="347472" y="1554480"/>
            <a:ext cx="26517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5E3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30352" y="17373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9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ثقة الفرق</a:t>
            </a:r>
            <a:endParaRPr lang="ar-SA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530352" y="242316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تكرار الإنذارات غير المؤكدة يدفع الفرق لتجاهلها — فيضيع الإنذار الصحيح بينها</a:t>
            </a:r>
            <a:endParaRPr lang="ar-SA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6118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تُقاس هذه المحاور كمياً من بيانات المشغّل الحقيقية (أوامر العمل السابقة ونتائجها الميدانية) — ولا تُقدَّر بأرقام افتراضية قبل الحصول عليها.</a:t>
            </a:r>
            <a:endParaRPr lang="ar-SA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114800"/>
            <a:ext cx="11091672" cy="2103120"/>
          </a:xfrm>
          <a:prstGeom prst="roundRect">
            <a:avLst>
              <a:gd name="adj" fmla="val 5217"/>
            </a:avLst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425196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3FB8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صيغة البيان النهائية</a:t>
            </a:r>
            <a:endParaRPr lang="ar-SA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617720"/>
            <a:ext cx="1054303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ar-SA" alt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يعاني </a:t>
            </a:r>
            <a:pPr algn="r" indent="0" marL="0">
              <a:lnSpc>
                <a:spcPct val="115000"/>
              </a:lnSpc>
              <a:buNone/>
            </a:pPr>
            <a:r>
              <a:rPr lang="ar-SA" altLang="en-US" sz="1350" b="1" dirty="0">
                <a:solidFill>
                  <a:srgbClr val="3FB8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فرق تشغيل وصيانة شبكات المياه</a:t>
            </a:r>
            <a:pPr algn="r" indent="0" marL="0">
              <a:lnSpc>
                <a:spcPct val="115000"/>
              </a:lnSpc>
              <a:buNone/>
            </a:pPr>
            <a:r>
              <a:rPr lang="ar-SA" alt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من </a:t>
            </a:r>
            <a:pPr algn="r" indent="0" marL="0">
              <a:lnSpc>
                <a:spcPct val="115000"/>
              </a:lnSpc>
              <a:buNone/>
            </a:pPr>
            <a:r>
              <a:rPr lang="ar-SA" altLang="en-US" sz="1350" b="1" dirty="0">
                <a:solidFill>
                  <a:srgbClr val="3FB8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وصول أحداث التسرب المرشحة إليهم دون درجة ثقة أو دليل يميز الانكسار المؤكد عن عطل الحساس عن التغير الطبيعي في الطلب</a:t>
            </a:r>
            <a:pPr algn="r" indent="0" marL="0">
              <a:lnSpc>
                <a:spcPct val="115000"/>
              </a:lnSpc>
              <a:buNone/>
            </a:pPr>
            <a:r>
              <a:rPr lang="ar-SA" alt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عند </a:t>
            </a:r>
            <a:pPr algn="r" indent="0" marL="0">
              <a:lnSpc>
                <a:spcPct val="115000"/>
              </a:lnSpc>
              <a:buNone/>
            </a:pPr>
            <a:r>
              <a:rPr lang="ar-SA" altLang="en-US" sz="1350" b="1" dirty="0">
                <a:solidFill>
                  <a:srgbClr val="3FB8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اللحظة الفاصلة بين رصد الحدث وإصدار أمر العمل</a:t>
            </a:r>
            <a:pPr algn="r" indent="0" marL="0">
              <a:lnSpc>
                <a:spcPct val="115000"/>
              </a:lnSpc>
              <a:buNone/>
            </a:pPr>
            <a:r>
              <a:rPr lang="ar-SA" alt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بسبب </a:t>
            </a:r>
            <a:pPr algn="r" indent="0" marL="0">
              <a:lnSpc>
                <a:spcPct val="115000"/>
              </a:lnSpc>
              <a:buNone/>
            </a:pPr>
            <a:r>
              <a:rPr lang="ar-SA" altLang="en-US" sz="1350" b="1" dirty="0">
                <a:solidFill>
                  <a:srgbClr val="3FB8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غياب طبقة تحقق تقرأ التوقيع الهيدروليكي المحلي حول موقع الحدث وحالة الحساس، مُعايَرة على بيانات الشبكة الحقيقية</a:t>
            </a:r>
            <a:pPr algn="r" indent="0" marL="0">
              <a:lnSpc>
                <a:spcPct val="115000"/>
              </a:lnSpc>
              <a:buNone/>
            </a:pPr>
            <a:r>
              <a:rPr lang="ar-SA" alt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، مما يؤدي إلى </a:t>
            </a:r>
            <a:pPr algn="r" indent="0" marL="0">
              <a:lnSpc>
                <a:spcPct val="115000"/>
              </a:lnSpc>
              <a:buNone/>
            </a:pPr>
            <a:r>
              <a:rPr lang="ar-SA" altLang="en-US" sz="1350" b="1" dirty="0">
                <a:solidFill>
                  <a:srgbClr val="3FB8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زيارات ميدانية بلا نتيجة، وتأخر معالجة الانكسارات الحقيقية، وتلوّث مؤشرات الفاقد بقراءات غير سليمة، وتآكل ثقة الفرق بالإنذارات.</a:t>
            </a:r>
            <a:endParaRPr lang="ar-SA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90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نبض NABD  |  طبقة التحقق من أحداث التسرب في شبكات المياه</a:t>
            </a:r>
            <a:endParaRPr lang="ar-SA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90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ar-SA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200" b="1" dirty="0">
                <a:solidFill>
                  <a:srgbClr val="0B3C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خريطة التعاطف Empathy Map</a:t>
            </a:r>
            <a:endParaRPr lang="ar-SA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الشريحة المستهدفة: مدير/مشرف تشغيل وصيانة شبكة توزيع لدى مشغّل يملك أصلاً أنظمة كشف ومتابعة فاقد</a:t>
            </a:r>
            <a:endParaRPr lang="ar-SA" sz="1400" dirty="0"/>
          </a:p>
        </p:txBody>
      </p:sp>
      <p:sp>
        <p:nvSpPr>
          <p:cNvPr id="4" name="Shape 2"/>
          <p:cNvSpPr/>
          <p:nvPr/>
        </p:nvSpPr>
        <p:spPr>
          <a:xfrm>
            <a:off x="6208776" y="1508760"/>
            <a:ext cx="5431536" cy="1508760"/>
          </a:xfrm>
          <a:prstGeom prst="roundRect">
            <a:avLst>
              <a:gd name="adj" fmla="val 7273"/>
            </a:avLst>
          </a:prstGeom>
          <a:solidFill>
            <a:srgbClr val="EAF4F7"/>
          </a:solidFill>
          <a:ln w="9525">
            <a:solidFill>
              <a:srgbClr val="D5E3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391656" y="1618488"/>
            <a:ext cx="5065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ماذا يقول؟</a:t>
            </a:r>
            <a:endParaRPr lang="ar-SA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391656" y="2011680"/>
            <a:ext cx="50657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152400" indent="-152400">
              <a:spcAft>
                <a:spcPts val="400"/>
              </a:spcAft>
              <a:buSzPct val="100000"/>
              <a:buChar char="•"/>
            </a:pPr>
            <a:r>
              <a:rPr lang="ar-SA" alt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"عندي أنظمة كشف ومنصات فاقد — ما أحتاج نظاماً جديداً يعرض لي نفس الشيء"</a:t>
            </a:r>
            <a:endParaRPr lang="ar-SA" sz="1100" dirty="0"/>
          </a:p>
          <a:p>
            <a:pPr algn="r" marL="152400" indent="-152400">
              <a:spcAft>
                <a:spcPts val="400"/>
              </a:spcAft>
              <a:buSzPct val="100000"/>
              <a:buChar char="•"/>
            </a:pPr>
            <a:r>
              <a:rPr lang="ar-SA" alt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"كيف أعرف أن هذا الحدث انكسار فعلي وليس عطلاً في الحساس؟"</a:t>
            </a:r>
            <a:endParaRPr lang="ar-SA" sz="1100" dirty="0"/>
          </a:p>
          <a:p>
            <a:pPr algn="r" marL="152400" indent="-152400">
              <a:spcAft>
                <a:spcPts val="400"/>
              </a:spcAft>
              <a:buSzPct val="100000"/>
              <a:buChar char="•"/>
            </a:pPr>
            <a:r>
              <a:rPr lang="ar-SA" alt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"لا أرسل فريقاً بناءً على رقم لا أعرف من أين جاء"</a:t>
            </a:r>
            <a:endParaRPr lang="ar-SA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5431536" cy="1508760"/>
          </a:xfrm>
          <a:prstGeom prst="roundRect">
            <a:avLst>
              <a:gd name="adj" fmla="val 7273"/>
            </a:avLst>
          </a:prstGeom>
          <a:solidFill>
            <a:srgbClr val="EAF4F7"/>
          </a:solidFill>
          <a:ln w="9525">
            <a:solidFill>
              <a:srgbClr val="D5E3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31520" y="1618488"/>
            <a:ext cx="5065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ماذا يفكر؟</a:t>
            </a:r>
            <a:endParaRPr lang="ar-SA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011680"/>
            <a:ext cx="50657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152400" indent="-152400">
              <a:spcAft>
                <a:spcPts val="400"/>
              </a:spcAft>
              <a:buSzPct val="100000"/>
              <a:buChar char="•"/>
            </a:pPr>
            <a:r>
              <a:rPr lang="ar-SA" alt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الأولويات: قرار أسرع وأدق، وخفض الزيارات بلا نتيجة</a:t>
            </a:r>
            <a:endParaRPr lang="ar-SA" sz="1100" dirty="0"/>
          </a:p>
          <a:p>
            <a:pPr algn="r" marL="152400" indent="-152400">
              <a:spcAft>
                <a:spcPts val="400"/>
              </a:spcAft>
              <a:buSzPct val="100000"/>
              <a:buChar char="•"/>
            </a:pPr>
            <a:r>
              <a:rPr lang="ar-SA" alt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المخاوف: نظام يزيد الإنذارات بدل أن يرتبها، أو يلمس بيئة التشغيل</a:t>
            </a:r>
            <a:endParaRPr lang="ar-SA" sz="1100" dirty="0"/>
          </a:p>
          <a:p>
            <a:pPr algn="r" marL="152400" indent="-152400">
              <a:spcAft>
                <a:spcPts val="400"/>
              </a:spcAft>
              <a:buSzPct val="100000"/>
              <a:buChar char="•"/>
            </a:pPr>
            <a:r>
              <a:rPr lang="ar-SA" alt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الطموح: كل حدث يصل ومعه سببه ودرجة ثقته، وقابل للتوسع</a:t>
            </a:r>
            <a:endParaRPr lang="ar-SA" sz="1100" dirty="0"/>
          </a:p>
        </p:txBody>
      </p:sp>
      <p:sp>
        <p:nvSpPr>
          <p:cNvPr id="10" name="Shape 8"/>
          <p:cNvSpPr/>
          <p:nvPr/>
        </p:nvSpPr>
        <p:spPr>
          <a:xfrm>
            <a:off x="6208776" y="3218688"/>
            <a:ext cx="5431536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5E3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391656" y="3328416"/>
            <a:ext cx="5065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ماذا يفعل؟</a:t>
            </a:r>
            <a:endParaRPr lang="ar-SA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391656" y="3721608"/>
            <a:ext cx="50657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152400" indent="-152400">
              <a:spcAft>
                <a:spcPts val="400"/>
              </a:spcAft>
              <a:buSzPct val="100000"/>
              <a:buChar char="•"/>
            </a:pPr>
            <a:r>
              <a:rPr lang="ar-SA" alt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يوازن يدوياً بين الأحداث المرشحة معتمداً على خبرة المناوب</a:t>
            </a:r>
            <a:endParaRPr lang="ar-SA" sz="1100" dirty="0"/>
          </a:p>
          <a:p>
            <a:pPr algn="r" marL="152400" indent="-152400">
              <a:spcAft>
                <a:spcPts val="400"/>
              </a:spcAft>
              <a:buSzPct val="100000"/>
              <a:buChar char="•"/>
            </a:pPr>
            <a:r>
              <a:rPr lang="ar-SA" alt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يرسل فريقاً للتحقق الميداني حين يتعذر الحسم من المكتب</a:t>
            </a:r>
            <a:endParaRPr lang="ar-SA" sz="1100" dirty="0"/>
          </a:p>
          <a:p>
            <a:pPr algn="r" marL="152400" indent="-152400">
              <a:spcAft>
                <a:spcPts val="400"/>
              </a:spcAft>
              <a:buSzPct val="100000"/>
              <a:buChar char="•"/>
            </a:pPr>
            <a:r>
              <a:rPr lang="ar-SA" alt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يراجع أوامر العمل ونتائجها بأثر رجعي لاستخلاص الدروس</a:t>
            </a:r>
            <a:endParaRPr lang="ar-SA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218688"/>
            <a:ext cx="5431536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5E3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31520" y="3328416"/>
            <a:ext cx="5065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ماذا يشعر؟</a:t>
            </a:r>
            <a:endParaRPr lang="ar-SA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721608"/>
            <a:ext cx="50657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152400" indent="-152400">
              <a:spcAft>
                <a:spcPts val="400"/>
              </a:spcAft>
              <a:buSzPct val="100000"/>
              <a:buChar char="•"/>
            </a:pPr>
            <a:r>
              <a:rPr lang="ar-SA" alt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إحباط من الأحداث التي لا ينتج عنها تسرب بعد صرف الجهد</a:t>
            </a:r>
            <a:endParaRPr lang="ar-SA" sz="1100" dirty="0"/>
          </a:p>
          <a:p>
            <a:pPr algn="r" marL="152400" indent="-152400">
              <a:spcAft>
                <a:spcPts val="400"/>
              </a:spcAft>
              <a:buSzPct val="100000"/>
              <a:buChar char="•"/>
            </a:pPr>
            <a:r>
              <a:rPr lang="ar-SA" alt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قلق من انكسار حقيقي تأخر لأنه كان مدفوناً بين أحداث غير مؤكدة</a:t>
            </a:r>
            <a:endParaRPr lang="ar-SA" sz="1100" dirty="0"/>
          </a:p>
          <a:p>
            <a:pPr algn="r" marL="152400" indent="-152400">
              <a:spcAft>
                <a:spcPts val="400"/>
              </a:spcAft>
              <a:buSzPct val="100000"/>
              <a:buChar char="•"/>
            </a:pPr>
            <a:r>
              <a:rPr lang="ar-SA" alt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ضغط مستمر لتحقيق مؤشرات الأداء بموارد ميدانية محدودة</a:t>
            </a:r>
            <a:endParaRPr lang="ar-SA" sz="1100" dirty="0"/>
          </a:p>
        </p:txBody>
      </p:sp>
      <p:sp>
        <p:nvSpPr>
          <p:cNvPr id="16" name="Shape 14"/>
          <p:cNvSpPr/>
          <p:nvPr/>
        </p:nvSpPr>
        <p:spPr>
          <a:xfrm>
            <a:off x="6208776" y="4928616"/>
            <a:ext cx="5431536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D5E3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391656" y="5038344"/>
            <a:ext cx="5065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الآلام Pains</a:t>
            </a:r>
            <a:endParaRPr lang="ar-SA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391656" y="5431536"/>
            <a:ext cx="50657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152400" indent="-152400">
              <a:spcAft>
                <a:spcPts val="400"/>
              </a:spcAft>
              <a:buSzPct val="100000"/>
              <a:buChar char="•"/>
            </a:pPr>
            <a:r>
              <a:rPr lang="ar-SA" alt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زيارات ميدانية لا ينتج عنها تسرب مؤكد، وتأخر الانكسار الحقيقي في طابور الأحداث</a:t>
            </a:r>
            <a:endParaRPr lang="ar-SA" sz="1100" dirty="0"/>
          </a:p>
          <a:p>
            <a:pPr algn="r" marL="152400" indent="-152400">
              <a:spcAft>
                <a:spcPts val="400"/>
              </a:spcAft>
              <a:buSzPct val="100000"/>
              <a:buChar char="•"/>
            </a:pPr>
            <a:r>
              <a:rPr lang="ar-SA" alt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عطل حساس غير مكتشف يلوّث مؤشرات الفاقد؛ وقرارات تتفاوت بتفاوت خبرة المناوب</a:t>
            </a:r>
            <a:endParaRPr lang="ar-SA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928616"/>
            <a:ext cx="5431536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D5E3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31520" y="5038344"/>
            <a:ext cx="5065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المكاسب Gains</a:t>
            </a:r>
            <a:endParaRPr lang="ar-SA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5431536"/>
            <a:ext cx="50657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152400" indent="-152400">
              <a:spcAft>
                <a:spcPts val="400"/>
              </a:spcAft>
              <a:buSzPct val="100000"/>
              <a:buChar char="•"/>
            </a:pPr>
            <a:r>
              <a:rPr lang="ar-SA" alt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حدث يصل بتصنيف ودرجة ثقة ودليل يسنده، فيُرتَّب الجهد الميداني حسب الأولوية</a:t>
            </a:r>
            <a:endParaRPr lang="ar-SA" sz="1100" dirty="0"/>
          </a:p>
          <a:p>
            <a:pPr algn="r" marL="152400" indent="-152400">
              <a:spcAft>
                <a:spcPts val="400"/>
              </a:spcAft>
              <a:buSzPct val="100000"/>
              <a:buChar char="•"/>
            </a:pPr>
            <a:r>
              <a:rPr lang="ar-SA" alt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اكتشاف مبكر لانحراف الحساس، وتكامل قراءة فقط لا يلمس الأنظمة القائمة؛ يقيس النجاح بنسبة الزيارات المثمرة وزمن الوصول للقرار</a:t>
            </a:r>
            <a:endParaRPr lang="ar-SA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90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نبض NABD  |  طبقة التحقق من أحداث التسرب في شبكات المياه</a:t>
            </a:r>
            <a:endParaRPr lang="ar-SA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90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ar-SA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200" b="1" dirty="0">
                <a:solidFill>
                  <a:srgbClr val="0B3C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نموذج العمل التجاري Business Model Canvas</a:t>
            </a:r>
            <a:endParaRPr lang="ar-SA" sz="3200" dirty="0"/>
          </a:p>
        </p:txBody>
      </p:sp>
      <p:sp>
        <p:nvSpPr>
          <p:cNvPr id="3" name="Shape 1"/>
          <p:cNvSpPr/>
          <p:nvPr/>
        </p:nvSpPr>
        <p:spPr>
          <a:xfrm>
            <a:off x="9509760" y="1097280"/>
            <a:ext cx="2130552" cy="3959352"/>
          </a:xfrm>
          <a:prstGeom prst="roundRect">
            <a:avLst>
              <a:gd name="adj" fmla="val 5150"/>
            </a:avLst>
          </a:prstGeom>
          <a:solidFill>
            <a:srgbClr val="FFFFFF"/>
          </a:solidFill>
          <a:ln w="9525">
            <a:solidFill>
              <a:srgbClr val="D5E3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9692640" y="1207008"/>
            <a:ext cx="1764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1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الشركاء الرئيسيون</a:t>
            </a:r>
            <a:endParaRPr lang="ar-SA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9692640" y="1600200"/>
            <a:ext cx="1764792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152400" indent="-152400">
              <a:spcAft>
                <a:spcPts val="400"/>
              </a:spcAft>
              <a:buSzPct val="100000"/>
              <a:buChar char="•"/>
            </a:pPr>
            <a:r>
              <a:rPr lang="ar-SA" altLang="en-US" sz="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المشغّل نفسه (شركة المياه الوطنية) بصفته مالك البيانات وصاحب حالة الاستخدام</a:t>
            </a:r>
            <a:endParaRPr lang="ar-SA" sz="900" dirty="0"/>
          </a:p>
          <a:p>
            <a:pPr algn="r" marL="152400" indent="-152400">
              <a:spcAft>
                <a:spcPts val="400"/>
              </a:spcAft>
              <a:buSzPct val="100000"/>
              <a:buChar char="•"/>
            </a:pPr>
            <a:r>
              <a:rPr lang="ar-SA" altLang="en-US" sz="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مزودو منصات الكشف والفاقد والتوأم الرقمي القائمة — تكامل لا استبدال</a:t>
            </a:r>
            <a:endParaRPr lang="ar-SA" sz="900" dirty="0"/>
          </a:p>
          <a:p>
            <a:pPr algn="r" marL="152400" indent="-152400">
              <a:spcAft>
                <a:spcPts val="400"/>
              </a:spcAft>
              <a:buSzPct val="100000"/>
              <a:buChar char="•"/>
            </a:pPr>
            <a:r>
              <a:rPr lang="ar-SA" altLang="en-US" sz="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موردو الحساسات وأنظمة القياس القائمة في الشبكة</a:t>
            </a:r>
            <a:endParaRPr lang="ar-SA" sz="900" dirty="0"/>
          </a:p>
          <a:p>
            <a:pPr algn="r" marL="152400" indent="-152400">
              <a:spcAft>
                <a:spcPts val="400"/>
              </a:spcAft>
              <a:buSzPct val="100000"/>
              <a:buChar char="•"/>
            </a:pPr>
            <a:r>
              <a:rPr lang="ar-SA" altLang="en-US" sz="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الجامعات ومراكز البحث لمعايرة النماذج الهيدروليكية</a:t>
            </a:r>
            <a:endParaRPr lang="ar-SA" sz="900" dirty="0"/>
          </a:p>
          <a:p>
            <a:pPr algn="r" marL="152400" indent="-152400">
              <a:spcAft>
                <a:spcPts val="400"/>
              </a:spcAft>
              <a:buSzPct val="100000"/>
              <a:buChar char="•"/>
            </a:pPr>
            <a:r>
              <a:rPr lang="ar-SA" altLang="en-US" sz="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الجهات التنظيمية فيما يخص حوكمة مشاركة البيانات</a:t>
            </a:r>
            <a:endParaRPr lang="ar-SA" sz="900" dirty="0"/>
          </a:p>
        </p:txBody>
      </p:sp>
      <p:sp>
        <p:nvSpPr>
          <p:cNvPr id="6" name="Shape 4"/>
          <p:cNvSpPr/>
          <p:nvPr/>
        </p:nvSpPr>
        <p:spPr>
          <a:xfrm>
            <a:off x="7269480" y="1097280"/>
            <a:ext cx="2130552" cy="1924812"/>
          </a:xfrm>
          <a:prstGeom prst="roundRect">
            <a:avLst>
              <a:gd name="adj" fmla="val 5701"/>
            </a:avLst>
          </a:prstGeom>
          <a:solidFill>
            <a:srgbClr val="FFFFFF"/>
          </a:solidFill>
          <a:ln w="9525">
            <a:solidFill>
              <a:srgbClr val="D5E3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452360" y="1207008"/>
            <a:ext cx="1764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1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الأنشطة الرئيسية</a:t>
            </a:r>
            <a:endParaRPr lang="ar-SA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452360" y="1600200"/>
            <a:ext cx="1764792" cy="128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152400" indent="-152400">
              <a:spcAft>
                <a:spcPts val="400"/>
              </a:spcAft>
              <a:buSzPct val="100000"/>
              <a:buChar char="•"/>
            </a:pPr>
            <a:r>
              <a:rPr lang="ar-SA" altLang="en-US" sz="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معايرة نماذج التحقق على البيانات التاريخية وأوامر العمل</a:t>
            </a:r>
            <a:endParaRPr lang="ar-SA" sz="900" dirty="0"/>
          </a:p>
          <a:p>
            <a:pPr algn="r" marL="152400" indent="-152400">
              <a:spcAft>
                <a:spcPts val="400"/>
              </a:spcAft>
              <a:buSzPct val="100000"/>
              <a:buChar char="•"/>
            </a:pPr>
            <a:r>
              <a:rPr lang="ar-SA" altLang="en-US" sz="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نمذجة التوقيع الهيدروليكي المحلي عبر أقرب الحساسات</a:t>
            </a:r>
            <a:endParaRPr lang="ar-SA" sz="900" dirty="0"/>
          </a:p>
          <a:p>
            <a:pPr algn="r" marL="152400" indent="-152400">
              <a:spcAft>
                <a:spcPts val="400"/>
              </a:spcAft>
              <a:buSzPct val="100000"/>
              <a:buChar char="•"/>
            </a:pPr>
            <a:r>
              <a:rPr lang="ar-SA" altLang="en-US" sz="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نمذجة صحة الحساس لكشف الانحراف والعطل</a:t>
            </a:r>
            <a:endParaRPr lang="ar-SA" sz="900" dirty="0"/>
          </a:p>
          <a:p>
            <a:pPr algn="r" marL="152400" indent="-152400">
              <a:spcAft>
                <a:spcPts val="400"/>
              </a:spcAft>
              <a:buSzPct val="100000"/>
              <a:buChar char="•"/>
            </a:pPr>
            <a:r>
              <a:rPr lang="ar-SA" altLang="en-US" sz="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تكامل قراءة فقط مع أنظمة القياس على IT</a:t>
            </a:r>
            <a:endParaRPr lang="ar-SA" sz="900" dirty="0"/>
          </a:p>
        </p:txBody>
      </p:sp>
      <p:sp>
        <p:nvSpPr>
          <p:cNvPr id="9" name="Shape 7"/>
          <p:cNvSpPr/>
          <p:nvPr/>
        </p:nvSpPr>
        <p:spPr>
          <a:xfrm>
            <a:off x="7269480" y="3131820"/>
            <a:ext cx="2130552" cy="1924812"/>
          </a:xfrm>
          <a:prstGeom prst="roundRect">
            <a:avLst>
              <a:gd name="adj" fmla="val 5701"/>
            </a:avLst>
          </a:prstGeom>
          <a:solidFill>
            <a:srgbClr val="FFFFFF"/>
          </a:solidFill>
          <a:ln w="9525">
            <a:solidFill>
              <a:srgbClr val="D5E3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452360" y="3241548"/>
            <a:ext cx="1764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1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الموارد الرئيسية</a:t>
            </a:r>
            <a:endParaRPr lang="ar-SA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7452360" y="3634740"/>
            <a:ext cx="1764792" cy="128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152400" indent="-152400">
              <a:spcAft>
                <a:spcPts val="400"/>
              </a:spcAft>
              <a:buSzPct val="100000"/>
              <a:buChar char="•"/>
            </a:pPr>
            <a:r>
              <a:rPr lang="ar-SA" altLang="en-US" sz="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بيانات الشبكة بموجب اتفاقية مشاركة بيانات</a:t>
            </a:r>
            <a:endParaRPr lang="ar-SA" sz="900" dirty="0"/>
          </a:p>
          <a:p>
            <a:pPr algn="r" marL="152400" indent="-152400">
              <a:spcAft>
                <a:spcPts val="400"/>
              </a:spcAft>
              <a:buSzPct val="100000"/>
              <a:buChar char="•"/>
            </a:pPr>
            <a:r>
              <a:rPr lang="ar-SA" altLang="en-US" sz="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خوارزميات التصنيف ودرجة الثقة وكشف عطل الحساس</a:t>
            </a:r>
            <a:endParaRPr lang="ar-SA" sz="900" dirty="0"/>
          </a:p>
          <a:p>
            <a:pPr algn="r" marL="152400" indent="-152400">
              <a:spcAft>
                <a:spcPts val="400"/>
              </a:spcAft>
              <a:buSzPct val="100000"/>
              <a:buChar char="•"/>
            </a:pPr>
            <a:r>
              <a:rPr lang="ar-SA" altLang="en-US" sz="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فريق هيدروليكا وعلوم بيانات وتكامل أنظمة</a:t>
            </a:r>
            <a:endParaRPr lang="ar-SA" sz="900" dirty="0"/>
          </a:p>
          <a:p>
            <a:pPr algn="r" marL="152400" indent="-152400">
              <a:spcAft>
                <a:spcPts val="400"/>
              </a:spcAft>
              <a:buSzPct val="100000"/>
              <a:buChar char="•"/>
            </a:pPr>
            <a:r>
              <a:rPr lang="ar-SA" altLang="en-US" sz="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سجل أوامر العمل كمرجع لقياس دقة النموذج</a:t>
            </a:r>
            <a:endParaRPr lang="ar-SA" sz="900" dirty="0"/>
          </a:p>
        </p:txBody>
      </p:sp>
      <p:sp>
        <p:nvSpPr>
          <p:cNvPr id="12" name="Shape 10"/>
          <p:cNvSpPr/>
          <p:nvPr/>
        </p:nvSpPr>
        <p:spPr>
          <a:xfrm>
            <a:off x="5029200" y="1097280"/>
            <a:ext cx="2130552" cy="3959352"/>
          </a:xfrm>
          <a:prstGeom prst="roundRect">
            <a:avLst>
              <a:gd name="adj" fmla="val 5150"/>
            </a:avLst>
          </a:prstGeom>
          <a:solidFill>
            <a:srgbClr val="EAF4F7"/>
          </a:solidFill>
          <a:ln w="9525">
            <a:solidFill>
              <a:srgbClr val="D5E3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5212080" y="1207008"/>
            <a:ext cx="1764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150" b="1" dirty="0">
                <a:solidFill>
                  <a:srgbClr val="0B3C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القيمة المقترحة</a:t>
            </a:r>
            <a:endParaRPr lang="ar-SA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212080" y="1600200"/>
            <a:ext cx="1764792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152400" indent="-152400">
              <a:spcAft>
                <a:spcPts val="400"/>
              </a:spcAft>
              <a:buSzPct val="100000"/>
              <a:buChar char="•"/>
            </a:pPr>
            <a:r>
              <a:rPr lang="ar-SA" altLang="en-US" sz="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نكرر الكشف — نضيف الثقة: كل حدث مرشح يصل بتصنيف ودرجة ثقة والدليل الذي يسنده</a:t>
            </a:r>
            <a:endParaRPr lang="ar-SA" sz="900" dirty="0"/>
          </a:p>
          <a:p>
            <a:pPr algn="r" marL="152400" indent="-152400">
              <a:spcAft>
                <a:spcPts val="400"/>
              </a:spcAft>
              <a:buSzPct val="100000"/>
              <a:buChar char="•"/>
            </a:pPr>
            <a:r>
              <a:rPr lang="ar-SA" altLang="en-US" sz="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تمييز الانكسار المؤكد عن عطل الحساس عن التغير الطبيعي في الطلب قبل إصدار أمر العمل</a:t>
            </a:r>
            <a:endParaRPr lang="ar-SA" sz="900" dirty="0"/>
          </a:p>
          <a:p>
            <a:pPr algn="r" marL="152400" indent="-152400">
              <a:spcAft>
                <a:spcPts val="400"/>
              </a:spcAft>
              <a:buSzPct val="100000"/>
              <a:buChar char="•"/>
            </a:pPr>
            <a:r>
              <a:rPr lang="ar-SA" altLang="en-US" sz="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ترتيب الجهد الميداني حسب الأولوية بدل التعامل مع الأحداث كقائمة متساوية</a:t>
            </a:r>
            <a:endParaRPr lang="ar-SA" sz="900" dirty="0"/>
          </a:p>
          <a:p>
            <a:pPr algn="r" marL="152400" indent="-152400">
              <a:spcAft>
                <a:spcPts val="400"/>
              </a:spcAft>
              <a:buSzPct val="100000"/>
              <a:buChar char="•"/>
            </a:pPr>
            <a:r>
              <a:rPr lang="ar-SA" altLang="en-US" sz="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تكامل قراءة فقط فوق الأنظمة القائمة، بلا تحكم وبلا تعديل عليها</a:t>
            </a:r>
            <a:endParaRPr lang="ar-SA" sz="900" dirty="0"/>
          </a:p>
          <a:p>
            <a:pPr algn="r" marL="152400" indent="-152400">
              <a:spcAft>
                <a:spcPts val="400"/>
              </a:spcAft>
              <a:buSzPct val="100000"/>
              <a:buChar char="•"/>
            </a:pPr>
            <a:r>
              <a:rPr lang="ar-SA" altLang="en-US" sz="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نتفوق: منطق تحقق مُعايَر على بيانات الشبكة الفعلية لا على فرضيات عامة</a:t>
            </a:r>
            <a:endParaRPr lang="ar-SA" sz="900" dirty="0"/>
          </a:p>
        </p:txBody>
      </p:sp>
      <p:sp>
        <p:nvSpPr>
          <p:cNvPr id="15" name="Shape 13"/>
          <p:cNvSpPr/>
          <p:nvPr/>
        </p:nvSpPr>
        <p:spPr>
          <a:xfrm>
            <a:off x="2788920" y="1097280"/>
            <a:ext cx="2130552" cy="1924812"/>
          </a:xfrm>
          <a:prstGeom prst="roundRect">
            <a:avLst>
              <a:gd name="adj" fmla="val 5701"/>
            </a:avLst>
          </a:prstGeom>
          <a:solidFill>
            <a:srgbClr val="FFFFFF"/>
          </a:solidFill>
          <a:ln w="9525">
            <a:solidFill>
              <a:srgbClr val="D5E3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2971800" y="1207008"/>
            <a:ext cx="1764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1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العلاقات مع العملاء</a:t>
            </a:r>
            <a:endParaRPr lang="ar-SA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2971800" y="1600200"/>
            <a:ext cx="1764792" cy="128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152400" indent="-152400">
              <a:spcAft>
                <a:spcPts val="400"/>
              </a:spcAft>
              <a:buSzPct val="100000"/>
              <a:buChar char="•"/>
            </a:pPr>
            <a:r>
              <a:rPr lang="ar-SA" altLang="en-US" sz="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شراكة تشغيلية مع غرفة التحكم وفرق الصيانة</a:t>
            </a:r>
            <a:endParaRPr lang="ar-SA" sz="900" dirty="0"/>
          </a:p>
          <a:p>
            <a:pPr algn="r" marL="152400" indent="-152400">
              <a:spcAft>
                <a:spcPts val="400"/>
              </a:spcAft>
              <a:buSzPct val="100000"/>
              <a:buChar char="•"/>
            </a:pPr>
            <a:r>
              <a:rPr lang="ar-SA" altLang="en-US" sz="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تقرير دوري: دقة التصنيف ونسبة الزيارات المثمرة</a:t>
            </a:r>
            <a:endParaRPr lang="ar-SA" sz="900" dirty="0"/>
          </a:p>
          <a:p>
            <a:pPr algn="r" marL="152400" indent="-152400">
              <a:spcAft>
                <a:spcPts val="400"/>
              </a:spcAft>
              <a:buSzPct val="100000"/>
              <a:buChar char="•"/>
            </a:pPr>
            <a:r>
              <a:rPr lang="ar-SA" altLang="en-US" sz="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مراجعة مشتركة لكل حدث اختلف فيه النموذج مع الواقع</a:t>
            </a:r>
            <a:endParaRPr lang="ar-SA" sz="900" dirty="0"/>
          </a:p>
          <a:p>
            <a:pPr algn="r" marL="152400" indent="-152400">
              <a:spcAft>
                <a:spcPts val="400"/>
              </a:spcAft>
              <a:buSzPct val="100000"/>
              <a:buChar char="•"/>
            </a:pPr>
            <a:r>
              <a:rPr lang="ar-SA" altLang="en-US" sz="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حسابات مدارة ودعم فني متخصص</a:t>
            </a:r>
            <a:endParaRPr lang="ar-SA" sz="900" dirty="0"/>
          </a:p>
        </p:txBody>
      </p:sp>
      <p:sp>
        <p:nvSpPr>
          <p:cNvPr id="18" name="Shape 16"/>
          <p:cNvSpPr/>
          <p:nvPr/>
        </p:nvSpPr>
        <p:spPr>
          <a:xfrm>
            <a:off x="2788920" y="3131820"/>
            <a:ext cx="2130552" cy="1924812"/>
          </a:xfrm>
          <a:prstGeom prst="roundRect">
            <a:avLst>
              <a:gd name="adj" fmla="val 5701"/>
            </a:avLst>
          </a:prstGeom>
          <a:solidFill>
            <a:srgbClr val="FFFFFF"/>
          </a:solidFill>
          <a:ln w="9525">
            <a:solidFill>
              <a:srgbClr val="D5E3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2971800" y="3241548"/>
            <a:ext cx="1764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1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القنوات</a:t>
            </a:r>
            <a:endParaRPr lang="ar-SA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2971800" y="3634740"/>
            <a:ext cx="1764792" cy="128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152400" indent="-152400">
              <a:spcAft>
                <a:spcPts val="400"/>
              </a:spcAft>
              <a:buSzPct val="100000"/>
              <a:buChar char="•"/>
            </a:pPr>
            <a:r>
              <a:rPr lang="ar-SA" altLang="en-US" sz="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برامج الابتكار والتحديات الوطنية</a:t>
            </a:r>
            <a:endParaRPr lang="ar-SA" sz="900" dirty="0"/>
          </a:p>
          <a:p>
            <a:pPr algn="r" marL="152400" indent="-152400">
              <a:spcAft>
                <a:spcPts val="400"/>
              </a:spcAft>
              <a:buSzPct val="100000"/>
              <a:buChar char="•"/>
            </a:pPr>
            <a:r>
              <a:rPr lang="ar-SA" altLang="en-US" sz="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إثبات مفهوم على بيانات تاريخية لمنطقة واحدة</a:t>
            </a:r>
            <a:endParaRPr lang="ar-SA" sz="900" dirty="0"/>
          </a:p>
          <a:p>
            <a:pPr algn="r" marL="152400" indent="-152400">
              <a:spcAft>
                <a:spcPts val="400"/>
              </a:spcAft>
              <a:buSzPct val="100000"/>
              <a:buChar char="•"/>
            </a:pPr>
            <a:r>
              <a:rPr lang="ar-SA" altLang="en-US" sz="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المناقصات المباشرة مع جهات التشغيل</a:t>
            </a:r>
            <a:endParaRPr lang="ar-SA" sz="900" dirty="0"/>
          </a:p>
          <a:p>
            <a:pPr algn="r" marL="152400" indent="-152400">
              <a:spcAft>
                <a:spcPts val="400"/>
              </a:spcAft>
              <a:buSzPct val="100000"/>
              <a:buChar char="•"/>
            </a:pPr>
            <a:r>
              <a:rPr lang="ar-SA" altLang="en-US" sz="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شركاء التكامل ومزودو المنصات القائمة</a:t>
            </a:r>
            <a:endParaRPr lang="ar-SA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1097280"/>
            <a:ext cx="2130552" cy="3959352"/>
          </a:xfrm>
          <a:prstGeom prst="roundRect">
            <a:avLst>
              <a:gd name="adj" fmla="val 5150"/>
            </a:avLst>
          </a:prstGeom>
          <a:solidFill>
            <a:srgbClr val="FFFFFF"/>
          </a:solidFill>
          <a:ln w="9525">
            <a:solidFill>
              <a:srgbClr val="D5E3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731520" y="1207008"/>
            <a:ext cx="1764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1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شرائح العملاء</a:t>
            </a:r>
            <a:endParaRPr lang="ar-SA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1600200"/>
            <a:ext cx="1764792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152400" indent="-152400">
              <a:spcAft>
                <a:spcPts val="400"/>
              </a:spcAft>
              <a:buSzPct val="100000"/>
              <a:buChar char="•"/>
            </a:pPr>
            <a:r>
              <a:rPr lang="ar-SA" altLang="en-US" sz="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الشريحة الأولى: مشغّلو شبكات توزيع يملكون بنية قياس وحساسات قائمة وسجل أوامر عمل</a:t>
            </a:r>
            <a:endParaRPr lang="ar-SA" sz="900" dirty="0"/>
          </a:p>
          <a:p>
            <a:pPr algn="r" marL="152400" indent="-152400">
              <a:spcAft>
                <a:spcPts val="400"/>
              </a:spcAft>
              <a:buSzPct val="100000"/>
              <a:buChar char="•"/>
            </a:pPr>
            <a:r>
              <a:rPr lang="ar-SA" altLang="en-US" sz="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غرف التحكم وإدارات الفاقد التي تتخذ قرار الإرسال الميداني</a:t>
            </a:r>
            <a:endParaRPr lang="ar-SA" sz="900" dirty="0"/>
          </a:p>
          <a:p>
            <a:pPr algn="r" marL="152400" indent="-152400">
              <a:spcAft>
                <a:spcPts val="400"/>
              </a:spcAft>
              <a:buSzPct val="100000"/>
              <a:buChar char="•"/>
            </a:pPr>
            <a:r>
              <a:rPr lang="ar-SA" altLang="en-US" sz="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لاحقاً: المدن الصناعية وشركات التوزيع الإقليمية والمشغلون الخاصون</a:t>
            </a:r>
            <a:endParaRPr lang="ar-SA" sz="900" dirty="0"/>
          </a:p>
        </p:txBody>
      </p:sp>
      <p:sp>
        <p:nvSpPr>
          <p:cNvPr id="24" name="Shape 22"/>
          <p:cNvSpPr/>
          <p:nvPr/>
        </p:nvSpPr>
        <p:spPr>
          <a:xfrm>
            <a:off x="6149340" y="5166360"/>
            <a:ext cx="5490972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D5E3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332220" y="5276088"/>
            <a:ext cx="51252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1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هيكل التكاليف</a:t>
            </a:r>
            <a:endParaRPr lang="ar-SA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332220" y="5669280"/>
            <a:ext cx="51252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152400" indent="-152400">
              <a:spcAft>
                <a:spcPts val="400"/>
              </a:spcAft>
              <a:buSzPct val="100000"/>
              <a:buChar char="•"/>
            </a:pPr>
            <a:r>
              <a:rPr lang="ar-SA" altLang="en-US" sz="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ثابتة: تطوير الخوارزميات ومعايرتها، رواتب الفريق المتخصص، بيئة التشغيل والامتثال</a:t>
            </a:r>
            <a:endParaRPr lang="ar-SA" sz="900" dirty="0"/>
          </a:p>
          <a:p>
            <a:pPr algn="r" marL="152400" indent="-152400">
              <a:spcAft>
                <a:spcPts val="400"/>
              </a:spcAft>
              <a:buSzPct val="100000"/>
              <a:buChar char="•"/>
            </a:pPr>
            <a:r>
              <a:rPr lang="ar-SA" altLang="en-US" sz="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متغيرة: التكامل مع أنظمة كل عميل، جهد المعايرة لكل منطقة، التدريب والدعم الميداني</a:t>
            </a:r>
            <a:endParaRPr lang="ar-SA" sz="900" dirty="0"/>
          </a:p>
        </p:txBody>
      </p:sp>
      <p:sp>
        <p:nvSpPr>
          <p:cNvPr id="27" name="Shape 25"/>
          <p:cNvSpPr/>
          <p:nvPr/>
        </p:nvSpPr>
        <p:spPr>
          <a:xfrm>
            <a:off x="548640" y="5166360"/>
            <a:ext cx="5490972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D5E3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731520" y="5276088"/>
            <a:ext cx="51252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1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مصادر الإيرادات</a:t>
            </a:r>
            <a:endParaRPr lang="ar-SA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731520" y="5669280"/>
            <a:ext cx="51252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152400" indent="-152400">
              <a:spcAft>
                <a:spcPts val="400"/>
              </a:spcAft>
              <a:buSzPct val="100000"/>
              <a:buChar char="•"/>
            </a:pPr>
            <a:r>
              <a:rPr lang="ar-SA" altLang="en-US" sz="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ترخيص سنوي للمنصة + عقد خدمة مُدارة (Managed Service)</a:t>
            </a:r>
            <a:endParaRPr lang="ar-SA" sz="900" dirty="0"/>
          </a:p>
          <a:p>
            <a:pPr algn="r" marL="152400" indent="-152400">
              <a:spcAft>
                <a:spcPts val="400"/>
              </a:spcAft>
              <a:buSzPct val="100000"/>
              <a:buChar char="•"/>
            </a:pPr>
            <a:r>
              <a:rPr lang="ar-SA" altLang="en-US" sz="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رسوم التكامل والمعايرة الأولية لكل منطقة، ونموذج مرتبط بالأداء: نسبة من وفر الزيارات غير المثمرة وتحسن زمن المعالجة</a:t>
            </a:r>
            <a:endParaRPr lang="ar-SA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90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نبض NABD  |  طبقة التحقق من أحداث التسرب في شبكات المياه</a:t>
            </a:r>
            <a:endParaRPr lang="ar-SA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90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ar-SA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2026-09-16T23:02:42Z</dcterms:created>
  <dcterms:modified xsi:type="dcterms:W3CDTF">2026-09-16T23:02:42Z</dcterms:modified>
</cp:coreProperties>
</file>